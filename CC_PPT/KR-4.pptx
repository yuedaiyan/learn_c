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97" r:id="rId4"/>
    <p:sldId id="298" r:id="rId5"/>
    <p:sldId id="288" r:id="rId6"/>
    <p:sldId id="292" r:id="rId7"/>
    <p:sldId id="293" r:id="rId8"/>
    <p:sldId id="294" r:id="rId9"/>
    <p:sldId id="295" r:id="rId10"/>
    <p:sldId id="296" r:id="rId11"/>
    <p:sldId id="289" r:id="rId12"/>
    <p:sldId id="299" r:id="rId13"/>
    <p:sldId id="303" r:id="rId14"/>
    <p:sldId id="290" r:id="rId15"/>
    <p:sldId id="300" r:id="rId16"/>
    <p:sldId id="291" r:id="rId17"/>
    <p:sldId id="301" r:id="rId18"/>
    <p:sldId id="302" r:id="rId19"/>
    <p:sldId id="284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3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34"/>
    <p:restoredTop sz="96327"/>
  </p:normalViewPr>
  <p:slideViewPr>
    <p:cSldViewPr snapToGrid="0" snapToObjects="1">
      <p:cViewPr>
        <p:scale>
          <a:sx n="106" d="100"/>
          <a:sy n="106" d="100"/>
        </p:scale>
        <p:origin x="1792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460-1633-341C-3CC8-92840593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4C032-CA96-4ABF-ED9C-CCFBCF308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B96C-8F88-816C-D027-6E50EC3D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C6854-78F7-2111-4EEF-FE308E2C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C7E04-F09E-DFC4-C070-26900C1D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7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E766-436C-7E66-C493-0E9F486D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C3B2-8A01-4A71-0BEA-ED75632F7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7C0B-F538-3B47-4A1D-405E90B4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D7DC-A689-4810-BD56-A6D5B44F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620AD-26BD-8D73-1F87-BF6DC3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8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B7FC-F1AE-06FD-FB11-8EC7DF65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71CB2-3C0E-C223-F118-EBF495E91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26BF7-B2D5-D401-3EF9-620C7E1A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99F9-B023-378B-554E-846FA197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09B5-606E-C92D-CA52-4478BBEB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8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5818-3F27-F2AC-11F8-5FD78E73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1E87-683B-7031-2CE5-AAAFA4E54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1C0B-7923-56A4-588E-2EC70CB0F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3C278-3302-DEE9-7BF9-A487E181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B8336-B700-A50E-1C9F-25661C16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CC7-3ECD-6AEC-010E-420316EB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6403-EDD6-84C8-5DF8-F2095D0E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92F63-453E-C708-C24F-2F432386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61F98-A097-F466-F047-98D413BB9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27AD1-C706-BC6D-8001-411235498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45390-893B-5C01-ADC8-CF5F7A669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22938-5AD8-CC20-E631-43DE846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7BDCB7-F97C-A810-DEAD-D2360157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47164-991E-A5FC-C24A-98E68D07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9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207F-EB96-53FE-8D30-ED6E1A28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B4068-00D1-3E34-26CA-EC5EE9FF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8C7F9-D849-37BF-DAFF-339953E5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BFC42-A63D-D449-2CFD-6F74C4B1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3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9479F-F3F5-1F8F-57C4-9E9730C7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09891-CEC3-9507-1DB1-8A952D46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FBE7-72D0-ACDC-B906-F9B739E1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1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EA14-B3BC-DCE9-7139-C4E87D5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F18E-1616-B225-64A9-E4FEC99BD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7E186-2DD2-319F-88D8-CD44E7269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E016-B993-48B2-3AB3-E3644DE7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BE3AE-4187-CD14-3407-947A6AB3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C71A0-6FDD-802D-FB7B-ED49070F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4AE2-C0F6-DA29-8D58-6AE99118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2F294-A82B-D670-A816-D85903594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9858A-083C-9E99-B738-E7C520CFE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7CA85-7E18-7977-09AE-3A036FCB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421CD-6091-9164-5E5E-F636C761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738C0-DF17-2CE9-8202-5453847F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9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10F8-49BD-9DF0-4BA1-32901029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6BDBC-29CF-5ED3-453D-F7000E32C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096A-1F1F-472A-02F3-A0AF0194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7273A-C68C-081A-67B0-3122B85D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0D66F-72BE-B98B-9218-B22A30E0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2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9B9B4-EAB6-E378-1644-3785D339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6BF26-EDD4-4726-3A5E-18D995596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B6C5-7BA5-C29A-3AA5-F702552A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45CB-90B3-059F-6F84-804EAE5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A1EF-3972-7CE8-EEE7-7F48805A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9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AA03A-8F7B-3EBB-CA86-B6FF6906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AB1F1-B30C-1EAF-D6FD-B68FB54C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5429-C59F-1008-625C-51F265618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938A-C9BA-0346-A74F-83EB1631032C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D9D4A-1765-C901-53BC-4FE38FF51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90406-735C-D46E-82D9-A4090C508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BD08-7DEA-A642-76EB-A25C2FB65E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K&amp;R Chapter 4</a:t>
            </a:r>
            <a:br>
              <a:rPr lang="en-US" dirty="0"/>
            </a:br>
            <a:r>
              <a:rPr lang="en-US" sz="4800" dirty="0"/>
              <a:t>Functions and Program Structure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1E4BA-302F-088B-C8D3-AEA9EACCC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Charles R. Severance</a:t>
            </a:r>
          </a:p>
          <a:p>
            <a:r>
              <a:rPr lang="en-US" dirty="0"/>
              <a:t>www.cc4e.com</a:t>
            </a:r>
          </a:p>
          <a:p>
            <a:r>
              <a:rPr lang="en-US" dirty="0"/>
              <a:t>code.cc4e.com (sample code)</a:t>
            </a:r>
          </a:p>
          <a:p>
            <a:r>
              <a:rPr lang="en-US"/>
              <a:t>online.dr-chuck.com</a:t>
            </a:r>
            <a:endParaRPr lang="en-US" dirty="0"/>
          </a:p>
        </p:txBody>
      </p:sp>
      <p:pic>
        <p:nvPicPr>
          <p:cNvPr id="4" name="Picture 6" descr="CCby.png">
            <a:extLst>
              <a:ext uri="{FF2B5EF4-FFF2-40B4-BE49-F238E27FC236}">
                <a16:creationId xmlns:a16="http://schemas.microsoft.com/office/drawing/2014/main" id="{ED146FD6-BD02-6C6F-35C4-6BF8814D9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772" y="6185766"/>
            <a:ext cx="110807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752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A7E7-D961-66E7-E7CF-CB277CD7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 – Unique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63E63-AAEC-04B4-9809-5D8198075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 4.1 – Automatic variables, parameters and the stack, Oh My!</a:t>
            </a:r>
          </a:p>
          <a:p>
            <a:r>
              <a:rPr lang="en-US" dirty="0"/>
              <a:t>Section 4.3 – Why arrays pass by reference – the rest is Chapter 5</a:t>
            </a:r>
          </a:p>
          <a:p>
            <a:r>
              <a:rPr lang="en-US" dirty="0"/>
              <a:t>Section 4.7 – Register variables</a:t>
            </a:r>
          </a:p>
          <a:p>
            <a:r>
              <a:rPr lang="en-US" dirty="0"/>
              <a:t>Section 4.10 – Recursion – because recursion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r>
              <a:rPr lang="en-US" dirty="0">
                <a:sym typeface="Wingdings" pitchFamily="2" charset="2"/>
              </a:rPr>
              <a:t>Section 4.11 – Pre-processor – Compiler architecture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2309-AC69-508E-4DD7-095E1911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“stack”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770C-1D01-6BF5-1F7B-C38E64A6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0861"/>
          </a:xfrm>
        </p:spPr>
        <p:txBody>
          <a:bodyPr/>
          <a:lstStyle/>
          <a:p>
            <a:r>
              <a:rPr lang="en-US" dirty="0"/>
              <a:t>A stack is a dynamic memory structure that gets larger when we “push” new data onto it and shrinks when we “pop” data from it.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F82BA-C6A5-5296-AA34-7B66EDCFE3AF}"/>
              </a:ext>
            </a:extLst>
          </p:cNvPr>
          <p:cNvSpPr txBox="1"/>
          <p:nvPr/>
        </p:nvSpPr>
        <p:spPr>
          <a:xfrm>
            <a:off x="856101" y="3081019"/>
            <a:ext cx="31470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list()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("one")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print('Stack 1:',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("two")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2:',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("three")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3:',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print('Pop!',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stk.pop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4:',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709A2-92BC-EBCE-C6F2-5FD032CED85A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4C477-56FD-0DB5-B368-B0DC3C7852EA}"/>
              </a:ext>
            </a:extLst>
          </p:cNvPr>
          <p:cNvSpPr txBox="1"/>
          <p:nvPr/>
        </p:nvSpPr>
        <p:spPr>
          <a:xfrm>
            <a:off x="4408346" y="3573461"/>
            <a:ext cx="413446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1: ['one’]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2: ['one', 'two’]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3: ['one', 'two', 'three']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Pop! three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4: ['one', 'two']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350E-0795-3E87-91DA-97E8581AFD8F}"/>
              </a:ext>
            </a:extLst>
          </p:cNvPr>
          <p:cNvSpPr/>
          <p:nvPr/>
        </p:nvSpPr>
        <p:spPr>
          <a:xfrm>
            <a:off x="8948042" y="3081019"/>
            <a:ext cx="1289957" cy="256649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06ECC-3CCA-70B5-5736-F48E1B6ED2BC}"/>
              </a:ext>
            </a:extLst>
          </p:cNvPr>
          <p:cNvSpPr/>
          <p:nvPr/>
        </p:nvSpPr>
        <p:spPr>
          <a:xfrm>
            <a:off x="8948042" y="5214807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</a:p>
        </p:txBody>
      </p:sp>
      <p:sp>
        <p:nvSpPr>
          <p:cNvPr id="12" name="Up-Down Arrow 11">
            <a:extLst>
              <a:ext uri="{FF2B5EF4-FFF2-40B4-BE49-F238E27FC236}">
                <a16:creationId xmlns:a16="http://schemas.microsoft.com/office/drawing/2014/main" id="{C85E1BBA-E30C-9375-789C-7A097E17F47C}"/>
              </a:ext>
            </a:extLst>
          </p:cNvPr>
          <p:cNvSpPr/>
          <p:nvPr/>
        </p:nvSpPr>
        <p:spPr>
          <a:xfrm>
            <a:off x="9421571" y="3217778"/>
            <a:ext cx="326586" cy="12133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C0E23D-A2AE-A942-312F-9C665BB8017A}"/>
              </a:ext>
            </a:extLst>
          </p:cNvPr>
          <p:cNvSpPr txBox="1"/>
          <p:nvPr/>
        </p:nvSpPr>
        <p:spPr>
          <a:xfrm>
            <a:off x="3211296" y="5718061"/>
            <a:ext cx="469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known as “Last in First Out” or LIFO Queue.</a:t>
            </a:r>
          </a:p>
        </p:txBody>
      </p:sp>
    </p:spTree>
    <p:extLst>
      <p:ext uri="{BB962C8B-B14F-4D97-AF65-F5344CB8AC3E}">
        <p14:creationId xmlns:p14="http://schemas.microsoft.com/office/powerpoint/2010/main" val="220727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2309-AC69-508E-4DD7-095E1911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“stack”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770C-1D01-6BF5-1F7B-C38E64A6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0861"/>
          </a:xfrm>
        </p:spPr>
        <p:txBody>
          <a:bodyPr/>
          <a:lstStyle/>
          <a:p>
            <a:r>
              <a:rPr lang="en-US" dirty="0"/>
              <a:t>A stack is a dynamic memory structure that gets larger when we “push” new data onto it and shrinks when we “pop” data from it.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F82BA-C6A5-5296-AA34-7B66EDCFE3AF}"/>
              </a:ext>
            </a:extLst>
          </p:cNvPr>
          <p:cNvSpPr txBox="1"/>
          <p:nvPr/>
        </p:nvSpPr>
        <p:spPr>
          <a:xfrm>
            <a:off x="856101" y="3081019"/>
            <a:ext cx="31470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list()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1:',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("two")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print('Stack 2:',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stk.append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("three")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3:',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print('Pop!',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stk.pop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print('Stack 4:',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709A2-92BC-EBCE-C6F2-5FD032CED85A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4C477-56FD-0DB5-B368-B0DC3C7852EA}"/>
              </a:ext>
            </a:extLst>
          </p:cNvPr>
          <p:cNvSpPr txBox="1"/>
          <p:nvPr/>
        </p:nvSpPr>
        <p:spPr>
          <a:xfrm>
            <a:off x="4408346" y="3573461"/>
            <a:ext cx="413446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1: ['one’]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2: ['one', 'two’]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3: ['one', 'two', 'three']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Pop! three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4: ['one', 'two']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350E-0795-3E87-91DA-97E8581AFD8F}"/>
              </a:ext>
            </a:extLst>
          </p:cNvPr>
          <p:cNvSpPr/>
          <p:nvPr/>
        </p:nvSpPr>
        <p:spPr>
          <a:xfrm>
            <a:off x="8948042" y="3081019"/>
            <a:ext cx="1289957" cy="256649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06ECC-3CCA-70B5-5736-F48E1B6ED2BC}"/>
              </a:ext>
            </a:extLst>
          </p:cNvPr>
          <p:cNvSpPr/>
          <p:nvPr/>
        </p:nvSpPr>
        <p:spPr>
          <a:xfrm>
            <a:off x="8948042" y="5214807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</a:p>
        </p:txBody>
      </p:sp>
      <p:sp>
        <p:nvSpPr>
          <p:cNvPr id="12" name="Up-Down Arrow 11">
            <a:extLst>
              <a:ext uri="{FF2B5EF4-FFF2-40B4-BE49-F238E27FC236}">
                <a16:creationId xmlns:a16="http://schemas.microsoft.com/office/drawing/2014/main" id="{C85E1BBA-E30C-9375-789C-7A097E17F47C}"/>
              </a:ext>
            </a:extLst>
          </p:cNvPr>
          <p:cNvSpPr/>
          <p:nvPr/>
        </p:nvSpPr>
        <p:spPr>
          <a:xfrm>
            <a:off x="9421571" y="3217778"/>
            <a:ext cx="326586" cy="12133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EEE087-5732-2407-F95C-077959B84091}"/>
              </a:ext>
            </a:extLst>
          </p:cNvPr>
          <p:cNvSpPr/>
          <p:nvPr/>
        </p:nvSpPr>
        <p:spPr>
          <a:xfrm>
            <a:off x="10517665" y="3090410"/>
            <a:ext cx="1289957" cy="256649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594F2-3B92-9862-1CD3-F78844A3452B}"/>
              </a:ext>
            </a:extLst>
          </p:cNvPr>
          <p:cNvSpPr/>
          <p:nvPr/>
        </p:nvSpPr>
        <p:spPr>
          <a:xfrm>
            <a:off x="10517665" y="5224198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</a:p>
        </p:txBody>
      </p:sp>
      <p:sp>
        <p:nvSpPr>
          <p:cNvPr id="16" name="Up-Down Arrow 15">
            <a:extLst>
              <a:ext uri="{FF2B5EF4-FFF2-40B4-BE49-F238E27FC236}">
                <a16:creationId xmlns:a16="http://schemas.microsoft.com/office/drawing/2014/main" id="{71DA21F6-EC34-5C6D-2017-81A6937C172C}"/>
              </a:ext>
            </a:extLst>
          </p:cNvPr>
          <p:cNvSpPr/>
          <p:nvPr/>
        </p:nvSpPr>
        <p:spPr>
          <a:xfrm>
            <a:off x="10991194" y="3227169"/>
            <a:ext cx="326586" cy="12133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42FAE-1A7C-6ABE-8F88-E947CA3845B8}"/>
              </a:ext>
            </a:extLst>
          </p:cNvPr>
          <p:cNvSpPr/>
          <p:nvPr/>
        </p:nvSpPr>
        <p:spPr>
          <a:xfrm>
            <a:off x="10517665" y="4808734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C0E23D-A2AE-A942-312F-9C665BB8017A}"/>
              </a:ext>
            </a:extLst>
          </p:cNvPr>
          <p:cNvSpPr txBox="1"/>
          <p:nvPr/>
        </p:nvSpPr>
        <p:spPr>
          <a:xfrm>
            <a:off x="3211296" y="5718061"/>
            <a:ext cx="469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known as “Last in First Out” or LIFO Queue.</a:t>
            </a:r>
          </a:p>
        </p:txBody>
      </p:sp>
    </p:spTree>
    <p:extLst>
      <p:ext uri="{BB962C8B-B14F-4D97-AF65-F5344CB8AC3E}">
        <p14:creationId xmlns:p14="http://schemas.microsoft.com/office/powerpoint/2010/main" val="345745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10CB-F825-A6A7-0F62-5C0BF4A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 to implement call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02EC-796C-7284-84E1-C70122B66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4470" y="1825624"/>
            <a:ext cx="4969329" cy="24851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Call by </a:t>
            </a:r>
            <a:r>
              <a:rPr lang="en-US" b="1" i="1" dirty="0"/>
              <a:t>value</a:t>
            </a:r>
            <a:r>
              <a:rPr lang="en-US" dirty="0"/>
              <a:t> says that within a function, you can change a parameter and it does not affect the copy of the variable in the main()</a:t>
            </a:r>
          </a:p>
          <a:p>
            <a:r>
              <a:rPr lang="en-US" dirty="0"/>
              <a:t>Parameters are “</a:t>
            </a:r>
            <a:r>
              <a:rPr lang="en-US" b="1" i="1" dirty="0"/>
              <a:t>isolated</a:t>
            </a:r>
            <a:r>
              <a:rPr lang="en-US" dirty="0"/>
              <a:t> to within the function”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838200" y="1845012"/>
            <a:ext cx="487505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- 10;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6999348" y="4648208"/>
            <a:ext cx="2528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after  32</a:t>
            </a:r>
          </a:p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 ma after  42</a:t>
            </a:r>
          </a:p>
        </p:txBody>
      </p:sp>
    </p:spTree>
    <p:extLst>
      <p:ext uri="{BB962C8B-B14F-4D97-AF65-F5344CB8AC3E}">
        <p14:creationId xmlns:p14="http://schemas.microsoft.com/office/powerpoint/2010/main" val="49696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DE88A2-0BAA-511E-921E-3BDA4B25E5A4}"/>
              </a:ext>
            </a:extLst>
          </p:cNvPr>
          <p:cNvSpPr/>
          <p:nvPr/>
        </p:nvSpPr>
        <p:spPr>
          <a:xfrm>
            <a:off x="5861943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598695" y="776453"/>
            <a:ext cx="4751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1103538" y="479933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4D56-1F60-AB7D-3BCB-6C5FC63E6905}"/>
              </a:ext>
            </a:extLst>
          </p:cNvPr>
          <p:cNvSpPr/>
          <p:nvPr/>
        </p:nvSpPr>
        <p:spPr>
          <a:xfrm>
            <a:off x="5861943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B3B43-2899-3CF2-FFBA-DC1357ED5834}"/>
              </a:ext>
            </a:extLst>
          </p:cNvPr>
          <p:cNvSpPr/>
          <p:nvPr/>
        </p:nvSpPr>
        <p:spPr>
          <a:xfrm>
            <a:off x="6368129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BE642-BC91-4CE6-A618-D8AC090F594B}"/>
              </a:ext>
            </a:extLst>
          </p:cNvPr>
          <p:cNvSpPr txBox="1"/>
          <p:nvPr/>
        </p:nvSpPr>
        <p:spPr>
          <a:xfrm>
            <a:off x="6188510" y="62568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E6899-6033-14FE-FD62-FF541AC3ABDD}"/>
              </a:ext>
            </a:extLst>
          </p:cNvPr>
          <p:cNvSpPr txBox="1"/>
          <p:nvPr/>
        </p:nvSpPr>
        <p:spPr>
          <a:xfrm>
            <a:off x="5955302" y="599238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 -&gt;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6190C7-007A-83BA-39F3-0655ED2C880A}"/>
              </a:ext>
            </a:extLst>
          </p:cNvPr>
          <p:cNvSpPr txBox="1"/>
          <p:nvPr/>
        </p:nvSpPr>
        <p:spPr>
          <a:xfrm>
            <a:off x="7377781" y="5420002"/>
            <a:ext cx="292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automatic variables</a:t>
            </a:r>
          </a:p>
        </p:txBody>
      </p:sp>
      <p:sp>
        <p:nvSpPr>
          <p:cNvPr id="45" name="Up-Down Arrow 44">
            <a:extLst>
              <a:ext uri="{FF2B5EF4-FFF2-40B4-BE49-F238E27FC236}">
                <a16:creationId xmlns:a16="http://schemas.microsoft.com/office/drawing/2014/main" id="{6F985769-EB82-6F22-0DCD-2C6C7DA271FB}"/>
              </a:ext>
            </a:extLst>
          </p:cNvPr>
          <p:cNvSpPr/>
          <p:nvPr/>
        </p:nvSpPr>
        <p:spPr>
          <a:xfrm>
            <a:off x="6368129" y="2530929"/>
            <a:ext cx="293928" cy="253092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E2C6F8-63C8-4803-28E3-B0C7827BC1ED}"/>
              </a:ext>
            </a:extLst>
          </p:cNvPr>
          <p:cNvSpPr txBox="1"/>
          <p:nvPr/>
        </p:nvSpPr>
        <p:spPr>
          <a:xfrm>
            <a:off x="7952013" y="1665515"/>
            <a:ext cx="34779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stack is a dynamic memory structure that gets larger when we “push” new data onto it and shrinks when we “pop” data from it. </a:t>
            </a:r>
          </a:p>
        </p:txBody>
      </p:sp>
    </p:spTree>
    <p:extLst>
      <p:ext uri="{BB962C8B-B14F-4D97-AF65-F5344CB8AC3E}">
        <p14:creationId xmlns:p14="http://schemas.microsoft.com/office/powerpoint/2010/main" val="238383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DE88A2-0BAA-511E-921E-3BDA4B25E5A4}"/>
              </a:ext>
            </a:extLst>
          </p:cNvPr>
          <p:cNvSpPr/>
          <p:nvPr/>
        </p:nvSpPr>
        <p:spPr>
          <a:xfrm>
            <a:off x="5861943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598695" y="776453"/>
            <a:ext cx="4751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1103538" y="4799337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 op before 42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4D56-1F60-AB7D-3BCB-6C5FC63E6905}"/>
              </a:ext>
            </a:extLst>
          </p:cNvPr>
          <p:cNvSpPr/>
          <p:nvPr/>
        </p:nvSpPr>
        <p:spPr>
          <a:xfrm>
            <a:off x="5861943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B3B43-2899-3CF2-FFBA-DC1357ED5834}"/>
              </a:ext>
            </a:extLst>
          </p:cNvPr>
          <p:cNvSpPr/>
          <p:nvPr/>
        </p:nvSpPr>
        <p:spPr>
          <a:xfrm>
            <a:off x="6368129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BE642-BC91-4CE6-A618-D8AC090F594B}"/>
              </a:ext>
            </a:extLst>
          </p:cNvPr>
          <p:cNvSpPr txBox="1"/>
          <p:nvPr/>
        </p:nvSpPr>
        <p:spPr>
          <a:xfrm>
            <a:off x="6188510" y="62568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E6899-6033-14FE-FD62-FF541AC3ABDD}"/>
              </a:ext>
            </a:extLst>
          </p:cNvPr>
          <p:cNvSpPr txBox="1"/>
          <p:nvPr/>
        </p:nvSpPr>
        <p:spPr>
          <a:xfrm>
            <a:off x="5955302" y="599238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 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42395-FE2D-27E6-D6A2-C0F4DFB59AC4}"/>
              </a:ext>
            </a:extLst>
          </p:cNvPr>
          <p:cNvSpPr/>
          <p:nvPr/>
        </p:nvSpPr>
        <p:spPr>
          <a:xfrm>
            <a:off x="7402268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DC134D-7BD4-BF16-3015-C503AF138526}"/>
              </a:ext>
            </a:extLst>
          </p:cNvPr>
          <p:cNvSpPr/>
          <p:nvPr/>
        </p:nvSpPr>
        <p:spPr>
          <a:xfrm>
            <a:off x="7402268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D40F8-CDE5-2421-522B-C2B9868883BA}"/>
              </a:ext>
            </a:extLst>
          </p:cNvPr>
          <p:cNvSpPr/>
          <p:nvPr/>
        </p:nvSpPr>
        <p:spPr>
          <a:xfrm>
            <a:off x="7908454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2B8C1-825D-A9F5-3295-18B4841249F3}"/>
              </a:ext>
            </a:extLst>
          </p:cNvPr>
          <p:cNvSpPr/>
          <p:nvPr/>
        </p:nvSpPr>
        <p:spPr>
          <a:xfrm>
            <a:off x="7402268" y="44942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DD4B4E-177C-E79E-8D73-1F1302CE8101}"/>
              </a:ext>
            </a:extLst>
          </p:cNvPr>
          <p:cNvSpPr/>
          <p:nvPr/>
        </p:nvSpPr>
        <p:spPr>
          <a:xfrm>
            <a:off x="7908454" y="44942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6053B-1190-1A46-01BD-A544037869B4}"/>
              </a:ext>
            </a:extLst>
          </p:cNvPr>
          <p:cNvSpPr/>
          <p:nvPr/>
        </p:nvSpPr>
        <p:spPr>
          <a:xfrm>
            <a:off x="7402261" y="37703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21B1E4-E97E-D6B0-D96D-C10D6EA469BA}"/>
              </a:ext>
            </a:extLst>
          </p:cNvPr>
          <p:cNvSpPr/>
          <p:nvPr/>
        </p:nvSpPr>
        <p:spPr>
          <a:xfrm>
            <a:off x="7908447" y="37703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E41DDAF1-4386-37C3-AC16-15637DCBC74B}"/>
              </a:ext>
            </a:extLst>
          </p:cNvPr>
          <p:cNvCxnSpPr>
            <a:cxnSpLocks/>
            <a:stCxn id="14" idx="1"/>
            <a:endCxn id="16" idx="1"/>
          </p:cNvCxnSpPr>
          <p:nvPr/>
        </p:nvCxnSpPr>
        <p:spPr>
          <a:xfrm rot="10800000">
            <a:off x="7908454" y="4710566"/>
            <a:ext cx="12700" cy="905291"/>
          </a:xfrm>
          <a:prstGeom prst="curvedConnector3">
            <a:avLst>
              <a:gd name="adj1" fmla="val 115714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B122C915-9EBD-225C-70DF-C94FAB9E95A7}"/>
              </a:ext>
            </a:extLst>
          </p:cNvPr>
          <p:cNvSpPr/>
          <p:nvPr/>
        </p:nvSpPr>
        <p:spPr>
          <a:xfrm>
            <a:off x="6640274" y="3624942"/>
            <a:ext cx="783770" cy="1358383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7C6882-DA49-4674-34C6-12E6A5298129}"/>
              </a:ext>
            </a:extLst>
          </p:cNvPr>
          <p:cNvSpPr txBox="1"/>
          <p:nvPr/>
        </p:nvSpPr>
        <p:spPr>
          <a:xfrm>
            <a:off x="5976234" y="3986664"/>
            <a:ext cx="80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frame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D9F8F6-AB2B-1F06-2866-D38773FCC104}"/>
              </a:ext>
            </a:extLst>
          </p:cNvPr>
          <p:cNvSpPr txBox="1"/>
          <p:nvPr/>
        </p:nvSpPr>
        <p:spPr>
          <a:xfrm>
            <a:off x="8942579" y="4557586"/>
            <a:ext cx="193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BE95EC-F20E-0BA0-1952-03794779CE24}"/>
              </a:ext>
            </a:extLst>
          </p:cNvPr>
          <p:cNvSpPr txBox="1"/>
          <p:nvPr/>
        </p:nvSpPr>
        <p:spPr>
          <a:xfrm>
            <a:off x="8942579" y="3801998"/>
            <a:ext cx="234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automatic vars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A68777-0AF5-DB4A-197D-8E5847523BEC}"/>
              </a:ext>
            </a:extLst>
          </p:cNvPr>
          <p:cNvSpPr txBox="1"/>
          <p:nvPr/>
        </p:nvSpPr>
        <p:spPr>
          <a:xfrm>
            <a:off x="8942579" y="5399502"/>
            <a:ext cx="292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automatic variables</a:t>
            </a:r>
          </a:p>
        </p:txBody>
      </p:sp>
    </p:spTree>
    <p:extLst>
      <p:ext uri="{BB962C8B-B14F-4D97-AF65-F5344CB8AC3E}">
        <p14:creationId xmlns:p14="http://schemas.microsoft.com/office/powerpoint/2010/main" val="333764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DE88A2-0BAA-511E-921E-3BDA4B25E5A4}"/>
              </a:ext>
            </a:extLst>
          </p:cNvPr>
          <p:cNvSpPr/>
          <p:nvPr/>
        </p:nvSpPr>
        <p:spPr>
          <a:xfrm>
            <a:off x="5861943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598695" y="776453"/>
            <a:ext cx="4751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1103538" y="4799337"/>
            <a:ext cx="2528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before 42</a:t>
            </a:r>
          </a:p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 op after  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4D56-1F60-AB7D-3BCB-6C5FC63E6905}"/>
              </a:ext>
            </a:extLst>
          </p:cNvPr>
          <p:cNvSpPr/>
          <p:nvPr/>
        </p:nvSpPr>
        <p:spPr>
          <a:xfrm>
            <a:off x="5861943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B3B43-2899-3CF2-FFBA-DC1357ED5834}"/>
              </a:ext>
            </a:extLst>
          </p:cNvPr>
          <p:cNvSpPr/>
          <p:nvPr/>
        </p:nvSpPr>
        <p:spPr>
          <a:xfrm>
            <a:off x="6368129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BE642-BC91-4CE6-A618-D8AC090F594B}"/>
              </a:ext>
            </a:extLst>
          </p:cNvPr>
          <p:cNvSpPr txBox="1"/>
          <p:nvPr/>
        </p:nvSpPr>
        <p:spPr>
          <a:xfrm>
            <a:off x="6188510" y="62568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E6899-6033-14FE-FD62-FF541AC3ABDD}"/>
              </a:ext>
            </a:extLst>
          </p:cNvPr>
          <p:cNvSpPr txBox="1"/>
          <p:nvPr/>
        </p:nvSpPr>
        <p:spPr>
          <a:xfrm>
            <a:off x="5955302" y="599238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 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42395-FE2D-27E6-D6A2-C0F4DFB59AC4}"/>
              </a:ext>
            </a:extLst>
          </p:cNvPr>
          <p:cNvSpPr/>
          <p:nvPr/>
        </p:nvSpPr>
        <p:spPr>
          <a:xfrm>
            <a:off x="7402268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DC134D-7BD4-BF16-3015-C503AF138526}"/>
              </a:ext>
            </a:extLst>
          </p:cNvPr>
          <p:cNvSpPr/>
          <p:nvPr/>
        </p:nvSpPr>
        <p:spPr>
          <a:xfrm>
            <a:off x="7402268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D40F8-CDE5-2421-522B-C2B9868883BA}"/>
              </a:ext>
            </a:extLst>
          </p:cNvPr>
          <p:cNvSpPr/>
          <p:nvPr/>
        </p:nvSpPr>
        <p:spPr>
          <a:xfrm>
            <a:off x="7908454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2B8C1-825D-A9F5-3295-18B4841249F3}"/>
              </a:ext>
            </a:extLst>
          </p:cNvPr>
          <p:cNvSpPr/>
          <p:nvPr/>
        </p:nvSpPr>
        <p:spPr>
          <a:xfrm>
            <a:off x="7402268" y="44942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DD4B4E-177C-E79E-8D73-1F1302CE8101}"/>
              </a:ext>
            </a:extLst>
          </p:cNvPr>
          <p:cNvSpPr/>
          <p:nvPr/>
        </p:nvSpPr>
        <p:spPr>
          <a:xfrm>
            <a:off x="7908454" y="44942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A5BF7B-817E-5727-BC23-7E35A86F5CD5}"/>
              </a:ext>
            </a:extLst>
          </p:cNvPr>
          <p:cNvSpPr/>
          <p:nvPr/>
        </p:nvSpPr>
        <p:spPr>
          <a:xfrm>
            <a:off x="8926264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9613B1-B04B-A45E-19EA-7E0E507E1874}"/>
              </a:ext>
            </a:extLst>
          </p:cNvPr>
          <p:cNvSpPr/>
          <p:nvPr/>
        </p:nvSpPr>
        <p:spPr>
          <a:xfrm>
            <a:off x="8926264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8D20A-53FA-2924-18BD-99B08EF95E7A}"/>
              </a:ext>
            </a:extLst>
          </p:cNvPr>
          <p:cNvSpPr/>
          <p:nvPr/>
        </p:nvSpPr>
        <p:spPr>
          <a:xfrm>
            <a:off x="9432450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8AEF6-E8A0-4D06-B922-53C71C71773A}"/>
              </a:ext>
            </a:extLst>
          </p:cNvPr>
          <p:cNvSpPr/>
          <p:nvPr/>
        </p:nvSpPr>
        <p:spPr>
          <a:xfrm>
            <a:off x="8926264" y="44942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00E43-C7A2-82E9-95C8-03428EF8921D}"/>
              </a:ext>
            </a:extLst>
          </p:cNvPr>
          <p:cNvSpPr/>
          <p:nvPr/>
        </p:nvSpPr>
        <p:spPr>
          <a:xfrm>
            <a:off x="9432450" y="44942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021CEA-E7EB-E84A-00A4-BB693D8EA634}"/>
              </a:ext>
            </a:extLst>
          </p:cNvPr>
          <p:cNvSpPr/>
          <p:nvPr/>
        </p:nvSpPr>
        <p:spPr>
          <a:xfrm>
            <a:off x="8931703" y="3732214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27D292-21CD-B7A2-BFD6-D82A497EBFEE}"/>
              </a:ext>
            </a:extLst>
          </p:cNvPr>
          <p:cNvSpPr/>
          <p:nvPr/>
        </p:nvSpPr>
        <p:spPr>
          <a:xfrm>
            <a:off x="9437889" y="3732214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6053B-1190-1A46-01BD-A544037869B4}"/>
              </a:ext>
            </a:extLst>
          </p:cNvPr>
          <p:cNvSpPr/>
          <p:nvPr/>
        </p:nvSpPr>
        <p:spPr>
          <a:xfrm>
            <a:off x="7402261" y="37703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21B1E4-E97E-D6B0-D96D-C10D6EA469BA}"/>
              </a:ext>
            </a:extLst>
          </p:cNvPr>
          <p:cNvSpPr/>
          <p:nvPr/>
        </p:nvSpPr>
        <p:spPr>
          <a:xfrm>
            <a:off x="7908447" y="37703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E41DDAF1-4386-37C3-AC16-15637DCBC74B}"/>
              </a:ext>
            </a:extLst>
          </p:cNvPr>
          <p:cNvCxnSpPr>
            <a:stCxn id="14" idx="3"/>
            <a:endCxn id="16" idx="3"/>
          </p:cNvCxnSpPr>
          <p:nvPr/>
        </p:nvCxnSpPr>
        <p:spPr>
          <a:xfrm flipV="1">
            <a:off x="8692225" y="4710565"/>
            <a:ext cx="12700" cy="905291"/>
          </a:xfrm>
          <a:prstGeom prst="curvedConnector3">
            <a:avLst>
              <a:gd name="adj1" fmla="val 128571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B4CFFAA-8ED6-BE54-4F64-7CD7734895C3}"/>
              </a:ext>
            </a:extLst>
          </p:cNvPr>
          <p:cNvSpPr txBox="1"/>
          <p:nvPr/>
        </p:nvSpPr>
        <p:spPr>
          <a:xfrm>
            <a:off x="5976234" y="3986664"/>
            <a:ext cx="80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frame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E6F4312A-FE25-478D-301D-5BCFC3F86363}"/>
              </a:ext>
            </a:extLst>
          </p:cNvPr>
          <p:cNvSpPr/>
          <p:nvPr/>
        </p:nvSpPr>
        <p:spPr>
          <a:xfrm>
            <a:off x="6640274" y="3624942"/>
            <a:ext cx="783770" cy="1358383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4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DE88A2-0BAA-511E-921E-3BDA4B25E5A4}"/>
              </a:ext>
            </a:extLst>
          </p:cNvPr>
          <p:cNvSpPr/>
          <p:nvPr/>
        </p:nvSpPr>
        <p:spPr>
          <a:xfrm>
            <a:off x="5861943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598695" y="776453"/>
            <a:ext cx="4751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1103538" y="4799337"/>
            <a:ext cx="2528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after  32</a:t>
            </a:r>
          </a:p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 ma after  42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4D56-1F60-AB7D-3BCB-6C5FC63E6905}"/>
              </a:ext>
            </a:extLst>
          </p:cNvPr>
          <p:cNvSpPr/>
          <p:nvPr/>
        </p:nvSpPr>
        <p:spPr>
          <a:xfrm>
            <a:off x="5861943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B3B43-2899-3CF2-FFBA-DC1357ED5834}"/>
              </a:ext>
            </a:extLst>
          </p:cNvPr>
          <p:cNvSpPr/>
          <p:nvPr/>
        </p:nvSpPr>
        <p:spPr>
          <a:xfrm>
            <a:off x="6368129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BE642-BC91-4CE6-A618-D8AC090F594B}"/>
              </a:ext>
            </a:extLst>
          </p:cNvPr>
          <p:cNvSpPr txBox="1"/>
          <p:nvPr/>
        </p:nvSpPr>
        <p:spPr>
          <a:xfrm>
            <a:off x="6188510" y="62568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E6899-6033-14FE-FD62-FF541AC3ABDD}"/>
              </a:ext>
            </a:extLst>
          </p:cNvPr>
          <p:cNvSpPr txBox="1"/>
          <p:nvPr/>
        </p:nvSpPr>
        <p:spPr>
          <a:xfrm>
            <a:off x="5955302" y="599238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 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42395-FE2D-27E6-D6A2-C0F4DFB59AC4}"/>
              </a:ext>
            </a:extLst>
          </p:cNvPr>
          <p:cNvSpPr/>
          <p:nvPr/>
        </p:nvSpPr>
        <p:spPr>
          <a:xfrm>
            <a:off x="7402268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DC134D-7BD4-BF16-3015-C503AF138526}"/>
              </a:ext>
            </a:extLst>
          </p:cNvPr>
          <p:cNvSpPr/>
          <p:nvPr/>
        </p:nvSpPr>
        <p:spPr>
          <a:xfrm>
            <a:off x="7402268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D40F8-CDE5-2421-522B-C2B9868883BA}"/>
              </a:ext>
            </a:extLst>
          </p:cNvPr>
          <p:cNvSpPr/>
          <p:nvPr/>
        </p:nvSpPr>
        <p:spPr>
          <a:xfrm>
            <a:off x="7908454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2B8C1-825D-A9F5-3295-18B4841249F3}"/>
              </a:ext>
            </a:extLst>
          </p:cNvPr>
          <p:cNvSpPr/>
          <p:nvPr/>
        </p:nvSpPr>
        <p:spPr>
          <a:xfrm>
            <a:off x="7402268" y="44942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DD4B4E-177C-E79E-8D73-1F1302CE8101}"/>
              </a:ext>
            </a:extLst>
          </p:cNvPr>
          <p:cNvSpPr/>
          <p:nvPr/>
        </p:nvSpPr>
        <p:spPr>
          <a:xfrm>
            <a:off x="7908454" y="44942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A5BF7B-817E-5727-BC23-7E35A86F5CD5}"/>
              </a:ext>
            </a:extLst>
          </p:cNvPr>
          <p:cNvSpPr/>
          <p:nvPr/>
        </p:nvSpPr>
        <p:spPr>
          <a:xfrm>
            <a:off x="8926264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9613B1-B04B-A45E-19EA-7E0E507E1874}"/>
              </a:ext>
            </a:extLst>
          </p:cNvPr>
          <p:cNvSpPr/>
          <p:nvPr/>
        </p:nvSpPr>
        <p:spPr>
          <a:xfrm>
            <a:off x="8926264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8D20A-53FA-2924-18BD-99B08EF95E7A}"/>
              </a:ext>
            </a:extLst>
          </p:cNvPr>
          <p:cNvSpPr/>
          <p:nvPr/>
        </p:nvSpPr>
        <p:spPr>
          <a:xfrm>
            <a:off x="9432450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8AEF6-E8A0-4D06-B922-53C71C71773A}"/>
              </a:ext>
            </a:extLst>
          </p:cNvPr>
          <p:cNvSpPr/>
          <p:nvPr/>
        </p:nvSpPr>
        <p:spPr>
          <a:xfrm>
            <a:off x="8926264" y="44942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00E43-C7A2-82E9-95C8-03428EF8921D}"/>
              </a:ext>
            </a:extLst>
          </p:cNvPr>
          <p:cNvSpPr/>
          <p:nvPr/>
        </p:nvSpPr>
        <p:spPr>
          <a:xfrm>
            <a:off x="9432450" y="44942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2C898-8B93-AE6A-F5BF-F266F8A779B4}"/>
              </a:ext>
            </a:extLst>
          </p:cNvPr>
          <p:cNvSpPr/>
          <p:nvPr/>
        </p:nvSpPr>
        <p:spPr>
          <a:xfrm>
            <a:off x="10480215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F8311-5969-47A0-9844-0688B9F55248}"/>
              </a:ext>
            </a:extLst>
          </p:cNvPr>
          <p:cNvSpPr/>
          <p:nvPr/>
        </p:nvSpPr>
        <p:spPr>
          <a:xfrm>
            <a:off x="10480215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AEECC6-957E-E6B8-9CC1-969BCACFDA48}"/>
              </a:ext>
            </a:extLst>
          </p:cNvPr>
          <p:cNvSpPr/>
          <p:nvPr/>
        </p:nvSpPr>
        <p:spPr>
          <a:xfrm>
            <a:off x="10986401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021CEA-E7EB-E84A-00A4-BB693D8EA634}"/>
              </a:ext>
            </a:extLst>
          </p:cNvPr>
          <p:cNvSpPr/>
          <p:nvPr/>
        </p:nvSpPr>
        <p:spPr>
          <a:xfrm>
            <a:off x="8931703" y="3732214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27D292-21CD-B7A2-BFD6-D82A497EBFEE}"/>
              </a:ext>
            </a:extLst>
          </p:cNvPr>
          <p:cNvSpPr/>
          <p:nvPr/>
        </p:nvSpPr>
        <p:spPr>
          <a:xfrm>
            <a:off x="9437889" y="3732214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6053B-1190-1A46-01BD-A544037869B4}"/>
              </a:ext>
            </a:extLst>
          </p:cNvPr>
          <p:cNvSpPr/>
          <p:nvPr/>
        </p:nvSpPr>
        <p:spPr>
          <a:xfrm>
            <a:off x="7402261" y="3770311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21B1E4-E97E-D6B0-D96D-C10D6EA469BA}"/>
              </a:ext>
            </a:extLst>
          </p:cNvPr>
          <p:cNvSpPr/>
          <p:nvPr/>
        </p:nvSpPr>
        <p:spPr>
          <a:xfrm>
            <a:off x="7908447" y="3770311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6190C7-007A-83BA-39F3-0655ED2C880A}"/>
              </a:ext>
            </a:extLst>
          </p:cNvPr>
          <p:cNvSpPr txBox="1"/>
          <p:nvPr/>
        </p:nvSpPr>
        <p:spPr>
          <a:xfrm>
            <a:off x="4454966" y="5292689"/>
            <a:ext cx="128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auto vars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7BB9A1-B3F3-B7C8-E81E-6FDA9E8CC976}"/>
              </a:ext>
            </a:extLst>
          </p:cNvPr>
          <p:cNvSpPr txBox="1"/>
          <p:nvPr/>
        </p:nvSpPr>
        <p:spPr>
          <a:xfrm>
            <a:off x="8469901" y="7861437"/>
            <a:ext cx="128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</a:t>
            </a:r>
            <a:r>
              <a:rPr lang="en-US" dirty="0" err="1"/>
              <a:t>parm</a:t>
            </a:r>
            <a:r>
              <a:rPr lang="en-US" dirty="0"/>
              <a:t> vars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9263A-3A6C-CCE5-CEB4-0E62FA119479}"/>
              </a:ext>
            </a:extLst>
          </p:cNvPr>
          <p:cNvSpPr txBox="1"/>
          <p:nvPr/>
        </p:nvSpPr>
        <p:spPr>
          <a:xfrm>
            <a:off x="8526219" y="7064192"/>
            <a:ext cx="128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auto vars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E41DDAF1-4386-37C3-AC16-15637DCBC74B}"/>
              </a:ext>
            </a:extLst>
          </p:cNvPr>
          <p:cNvCxnSpPr>
            <a:stCxn id="14" idx="3"/>
            <a:endCxn id="16" idx="3"/>
          </p:cNvCxnSpPr>
          <p:nvPr/>
        </p:nvCxnSpPr>
        <p:spPr>
          <a:xfrm flipV="1">
            <a:off x="8692225" y="4710565"/>
            <a:ext cx="12700" cy="905291"/>
          </a:xfrm>
          <a:prstGeom prst="curvedConnector3">
            <a:avLst>
              <a:gd name="adj1" fmla="val 128571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B4CFFAA-8ED6-BE54-4F64-7CD7734895C3}"/>
              </a:ext>
            </a:extLst>
          </p:cNvPr>
          <p:cNvSpPr txBox="1"/>
          <p:nvPr/>
        </p:nvSpPr>
        <p:spPr>
          <a:xfrm>
            <a:off x="5976234" y="3986664"/>
            <a:ext cx="80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frame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3B246714-1E25-11C5-FFFF-E10BA9A654C3}"/>
              </a:ext>
            </a:extLst>
          </p:cNvPr>
          <p:cNvSpPr/>
          <p:nvPr/>
        </p:nvSpPr>
        <p:spPr>
          <a:xfrm>
            <a:off x="6640274" y="3624942"/>
            <a:ext cx="783770" cy="1358383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5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DE88A2-0BAA-511E-921E-3BDA4B25E5A4}"/>
              </a:ext>
            </a:extLst>
          </p:cNvPr>
          <p:cNvSpPr/>
          <p:nvPr/>
        </p:nvSpPr>
        <p:spPr>
          <a:xfrm>
            <a:off x="5861943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20957-35F6-C82C-E0BD-A7B15EF85A00}"/>
              </a:ext>
            </a:extLst>
          </p:cNvPr>
          <p:cNvSpPr txBox="1"/>
          <p:nvPr/>
        </p:nvSpPr>
        <p:spPr>
          <a:xfrm>
            <a:off x="598695" y="776453"/>
            <a:ext cx="4751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one(op)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op;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op = op 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("One  op after 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ma = 42;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("Main ma before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one(ma);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ma after  %d\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n",ma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47B6-82C2-527F-764A-DBEF6FE9491F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26EF-2BB6-C9A5-C88A-9548E85E54AA}"/>
              </a:ext>
            </a:extLst>
          </p:cNvPr>
          <p:cNvSpPr txBox="1"/>
          <p:nvPr/>
        </p:nvSpPr>
        <p:spPr>
          <a:xfrm>
            <a:off x="1103538" y="4799337"/>
            <a:ext cx="2528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ma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before 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 op after  32</a:t>
            </a:r>
          </a:p>
          <a:p>
            <a:r>
              <a:rPr lang="en-US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 ma after  42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4D56-1F60-AB7D-3BCB-6C5FC63E6905}"/>
              </a:ext>
            </a:extLst>
          </p:cNvPr>
          <p:cNvSpPr/>
          <p:nvPr/>
        </p:nvSpPr>
        <p:spPr>
          <a:xfrm>
            <a:off x="5861943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B3B43-2899-3CF2-FFBA-DC1357ED5834}"/>
              </a:ext>
            </a:extLst>
          </p:cNvPr>
          <p:cNvSpPr/>
          <p:nvPr/>
        </p:nvSpPr>
        <p:spPr>
          <a:xfrm>
            <a:off x="6368129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BE642-BC91-4CE6-A618-D8AC090F594B}"/>
              </a:ext>
            </a:extLst>
          </p:cNvPr>
          <p:cNvSpPr txBox="1"/>
          <p:nvPr/>
        </p:nvSpPr>
        <p:spPr>
          <a:xfrm>
            <a:off x="6188510" y="62568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E6899-6033-14FE-FD62-FF541AC3ABDD}"/>
              </a:ext>
            </a:extLst>
          </p:cNvPr>
          <p:cNvSpPr txBox="1"/>
          <p:nvPr/>
        </p:nvSpPr>
        <p:spPr>
          <a:xfrm>
            <a:off x="5955302" y="599238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 -&gt;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2C898-8B93-AE6A-F5BF-F266F8A779B4}"/>
              </a:ext>
            </a:extLst>
          </p:cNvPr>
          <p:cNvSpPr/>
          <p:nvPr/>
        </p:nvSpPr>
        <p:spPr>
          <a:xfrm>
            <a:off x="10480215" y="1203060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F8311-5969-47A0-9844-0688B9F55248}"/>
              </a:ext>
            </a:extLst>
          </p:cNvPr>
          <p:cNvSpPr/>
          <p:nvPr/>
        </p:nvSpPr>
        <p:spPr>
          <a:xfrm>
            <a:off x="10480215" y="5399502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AEECC6-957E-E6B8-9CC1-969BCACFDA48}"/>
              </a:ext>
            </a:extLst>
          </p:cNvPr>
          <p:cNvSpPr/>
          <p:nvPr/>
        </p:nvSpPr>
        <p:spPr>
          <a:xfrm>
            <a:off x="10986401" y="5399502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6190C7-007A-83BA-39F3-0655ED2C880A}"/>
              </a:ext>
            </a:extLst>
          </p:cNvPr>
          <p:cNvSpPr txBox="1"/>
          <p:nvPr/>
        </p:nvSpPr>
        <p:spPr>
          <a:xfrm>
            <a:off x="4454966" y="5292689"/>
            <a:ext cx="128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auto vars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35377-5CD7-D7B6-C252-FBFFE0BD0CB6}"/>
              </a:ext>
            </a:extLst>
          </p:cNvPr>
          <p:cNvSpPr txBox="1"/>
          <p:nvPr/>
        </p:nvSpPr>
        <p:spPr>
          <a:xfrm>
            <a:off x="7377781" y="5420002"/>
            <a:ext cx="292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 automatic variables</a:t>
            </a:r>
          </a:p>
        </p:txBody>
      </p:sp>
    </p:spTree>
    <p:extLst>
      <p:ext uri="{BB962C8B-B14F-4D97-AF65-F5344CB8AC3E}">
        <p14:creationId xmlns:p14="http://schemas.microsoft.com/office/powerpoint/2010/main" val="122035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24F3-8CFB-3A2B-58E6-8338F5E9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arrays call by value in C?  Sort of.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99855-5E4C-0802-DB41-9D90CF07706E}"/>
              </a:ext>
            </a:extLst>
          </p:cNvPr>
          <p:cNvSpPr txBox="1"/>
          <p:nvPr/>
        </p:nvSpPr>
        <p:spPr>
          <a:xfrm>
            <a:off x="1477308" y="1581826"/>
            <a:ext cx="37641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zap(y):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print('Y start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zap:',y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 = 'CHANGED'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print('Y end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zap:',y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'ORIGINAL'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print('X before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zap:',x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zap(x)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print('X after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zap:',x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D7C1C-AF09-EBEB-F808-0BA6C6DAC8B8}"/>
              </a:ext>
            </a:extLst>
          </p:cNvPr>
          <p:cNvSpPr txBox="1"/>
          <p:nvPr/>
        </p:nvSpPr>
        <p:spPr>
          <a:xfrm>
            <a:off x="6476993" y="1581826"/>
            <a:ext cx="450475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zap(char y[])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("Y start 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(y, "CHANGED");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("Y end   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x[] = "ORIGINAL";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("X before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n",x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zap(x);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("X after  zap: %s\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n",x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5AB5E-5CA3-E39A-1B27-36FA93DBDF75}"/>
              </a:ext>
            </a:extLst>
          </p:cNvPr>
          <p:cNvSpPr txBox="1"/>
          <p:nvPr/>
        </p:nvSpPr>
        <p:spPr>
          <a:xfrm>
            <a:off x="1477308" y="4575959"/>
            <a:ext cx="29001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before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start 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end    zap: CHANGED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after  zap: ORIGINAL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9A5C8-C7DB-F3F9-1630-DD2EBE91BD34}"/>
              </a:ext>
            </a:extLst>
          </p:cNvPr>
          <p:cNvSpPr txBox="1"/>
          <p:nvPr/>
        </p:nvSpPr>
        <p:spPr>
          <a:xfrm>
            <a:off x="6476993" y="4958944"/>
            <a:ext cx="29001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before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start 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end    zap: CHANGED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after  zap: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E8BE9-CC96-C1A1-F86B-F4504FBC6D80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kr_04_02.py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4576E-A38E-1B3A-9A53-5D1EF4CFD393}"/>
              </a:ext>
            </a:extLst>
          </p:cNvPr>
          <p:cNvSpPr txBox="1"/>
          <p:nvPr/>
        </p:nvSpPr>
        <p:spPr>
          <a:xfrm>
            <a:off x="10515600" y="6349418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kr_04_02.c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AFE87-5618-2453-6C4E-B91405308613}"/>
              </a:ext>
            </a:extLst>
          </p:cNvPr>
          <p:cNvSpPr txBox="1"/>
          <p:nvPr/>
        </p:nvSpPr>
        <p:spPr>
          <a:xfrm>
            <a:off x="2679405" y="-10632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1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1D7C1C-AF09-EBEB-F808-0BA6C6DAC8B8}"/>
              </a:ext>
            </a:extLst>
          </p:cNvPr>
          <p:cNvSpPr txBox="1"/>
          <p:nvPr/>
        </p:nvSpPr>
        <p:spPr>
          <a:xfrm>
            <a:off x="293915" y="749069"/>
            <a:ext cx="450475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zap(char y[])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("Y start 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(y, "CHANGED");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("Y end   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x[] = "ORIGINAL";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("X before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n",x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zap(x);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("X after  zap: %s\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n",x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9A5C8-C7DB-F3F9-1630-DD2EBE91BD34}"/>
              </a:ext>
            </a:extLst>
          </p:cNvPr>
          <p:cNvSpPr txBox="1"/>
          <p:nvPr/>
        </p:nvSpPr>
        <p:spPr>
          <a:xfrm>
            <a:off x="293915" y="4126187"/>
            <a:ext cx="29001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before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start  zap: ORIGINAL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end    zap: CHANGED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after  zap: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E8BE9-CC96-C1A1-F86B-F4504FBC6D80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kr_04_02.c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F13965-2F1F-7597-9BBF-3499136C1DA5}"/>
              </a:ext>
            </a:extLst>
          </p:cNvPr>
          <p:cNvSpPr/>
          <p:nvPr/>
        </p:nvSpPr>
        <p:spPr>
          <a:xfrm>
            <a:off x="6084513" y="995183"/>
            <a:ext cx="1289957" cy="462914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A17990-A4DA-34C4-5AAB-E4A01F18B95C}"/>
              </a:ext>
            </a:extLst>
          </p:cNvPr>
          <p:cNvSpPr/>
          <p:nvPr/>
        </p:nvSpPr>
        <p:spPr>
          <a:xfrm>
            <a:off x="6084513" y="5191625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7C2F1D-34E6-AD5A-69EC-D048204DBB12}"/>
              </a:ext>
            </a:extLst>
          </p:cNvPr>
          <p:cNvSpPr/>
          <p:nvPr/>
        </p:nvSpPr>
        <p:spPr>
          <a:xfrm>
            <a:off x="6590699" y="5191625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B4F96-4492-BD6F-3575-8E9DE3924F48}"/>
              </a:ext>
            </a:extLst>
          </p:cNvPr>
          <p:cNvSpPr/>
          <p:nvPr/>
        </p:nvSpPr>
        <p:spPr>
          <a:xfrm>
            <a:off x="6084513" y="4286334"/>
            <a:ext cx="1289957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6C8C5-6AE1-F1C9-D745-78879845D933}"/>
              </a:ext>
            </a:extLst>
          </p:cNvPr>
          <p:cNvSpPr/>
          <p:nvPr/>
        </p:nvSpPr>
        <p:spPr>
          <a:xfrm>
            <a:off x="6590699" y="4286334"/>
            <a:ext cx="783771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5CA26-A10C-2662-32A5-9CA1B9308950}"/>
              </a:ext>
            </a:extLst>
          </p:cNvPr>
          <p:cNvSpPr/>
          <p:nvPr/>
        </p:nvSpPr>
        <p:spPr>
          <a:xfrm>
            <a:off x="9045678" y="3309757"/>
            <a:ext cx="440893" cy="252915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\0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C64D9C-2024-4659-BBDA-18A86454E28D}"/>
              </a:ext>
            </a:extLst>
          </p:cNvPr>
          <p:cNvCxnSpPr>
            <a:cxnSpLocks/>
          </p:cNvCxnSpPr>
          <p:nvPr/>
        </p:nvCxnSpPr>
        <p:spPr>
          <a:xfrm flipV="1">
            <a:off x="6956862" y="3309757"/>
            <a:ext cx="1939169" cy="1192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7C2C2C-853C-FC37-D840-90E27990E4E4}"/>
              </a:ext>
            </a:extLst>
          </p:cNvPr>
          <p:cNvCxnSpPr>
            <a:cxnSpLocks/>
          </p:cNvCxnSpPr>
          <p:nvPr/>
        </p:nvCxnSpPr>
        <p:spPr>
          <a:xfrm flipV="1">
            <a:off x="6956862" y="3429000"/>
            <a:ext cx="1939169" cy="20205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eft Brace 39">
            <a:extLst>
              <a:ext uri="{FF2B5EF4-FFF2-40B4-BE49-F238E27FC236}">
                <a16:creationId xmlns:a16="http://schemas.microsoft.com/office/drawing/2014/main" id="{C6157F09-894F-F9FB-ECDC-CA32D0202F68}"/>
              </a:ext>
            </a:extLst>
          </p:cNvPr>
          <p:cNvSpPr/>
          <p:nvPr/>
        </p:nvSpPr>
        <p:spPr>
          <a:xfrm>
            <a:off x="5221816" y="4158845"/>
            <a:ext cx="783770" cy="604241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832929-4A69-F998-0DDE-FBF3E1FC999D}"/>
              </a:ext>
            </a:extLst>
          </p:cNvPr>
          <p:cNvSpPr txBox="1"/>
          <p:nvPr/>
        </p:nvSpPr>
        <p:spPr>
          <a:xfrm>
            <a:off x="4541920" y="4158845"/>
            <a:ext cx="80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frame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6A4CBE-F53B-83AF-81F5-D5E7747425E5}"/>
              </a:ext>
            </a:extLst>
          </p:cNvPr>
          <p:cNvSpPr txBox="1"/>
          <p:nvPr/>
        </p:nvSpPr>
        <p:spPr>
          <a:xfrm>
            <a:off x="7855375" y="906570"/>
            <a:ext cx="39716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array </a:t>
            </a:r>
            <a:r>
              <a:rPr lang="en-US" sz="2000" b="1" i="1" dirty="0"/>
              <a:t>*location* </a:t>
            </a:r>
            <a:r>
              <a:rPr lang="en-US" sz="2000" dirty="0"/>
              <a:t>is passed *</a:t>
            </a:r>
            <a:r>
              <a:rPr lang="en-US" sz="2000" b="1" i="1" dirty="0"/>
              <a:t>by value*</a:t>
            </a:r>
            <a:r>
              <a:rPr lang="en-US" sz="2000" dirty="0"/>
              <a:t> (i.e. a copy is made into the stack frame) but no copy is made of the data in the array.  Since the function </a:t>
            </a:r>
            <a:r>
              <a:rPr lang="en-US" sz="2000" b="1" i="1" dirty="0"/>
              <a:t>*knows where* </a:t>
            </a:r>
            <a:r>
              <a:rPr lang="en-US" sz="2000" dirty="0"/>
              <a:t>the data is, it can change the data.</a:t>
            </a:r>
          </a:p>
        </p:txBody>
      </p:sp>
    </p:spTree>
    <p:extLst>
      <p:ext uri="{BB962C8B-B14F-4D97-AF65-F5344CB8AC3E}">
        <p14:creationId xmlns:p14="http://schemas.microsoft.com/office/powerpoint/2010/main" val="306059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8483-D572-DD26-3141-AB9EF8BF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28EF9-9A25-9931-40E3-26835266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7782" cy="4351338"/>
          </a:xfrm>
        </p:spPr>
        <p:txBody>
          <a:bodyPr/>
          <a:lstStyle/>
          <a:p>
            <a:r>
              <a:rPr lang="en-US" dirty="0"/>
              <a:t>Register variables are another nod to assembly language programmers who were concerned about the performance of their code</a:t>
            </a:r>
          </a:p>
          <a:p>
            <a:r>
              <a:rPr lang="en-US" dirty="0"/>
              <a:t>You can’t get the “memory address” of a variable declared as register</a:t>
            </a:r>
          </a:p>
          <a:p>
            <a:r>
              <a:rPr lang="en-US" dirty="0"/>
              <a:t>Likely completely ignored in modern compilers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ECF9C-76D6-4FA0-E07B-3F662601BCD8}"/>
              </a:ext>
            </a:extLst>
          </p:cNvPr>
          <p:cNvSpPr txBox="1"/>
          <p:nvPr/>
        </p:nvSpPr>
        <p:spPr>
          <a:xfrm>
            <a:off x="8915400" y="3136612"/>
            <a:ext cx="2159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register int x;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register char c;</a:t>
            </a:r>
          </a:p>
        </p:txBody>
      </p:sp>
    </p:spTree>
    <p:extLst>
      <p:ext uri="{BB962C8B-B14F-4D97-AF65-F5344CB8AC3E}">
        <p14:creationId xmlns:p14="http://schemas.microsoft.com/office/powerpoint/2010/main" val="120822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13D2-75CA-9FF5-AF46-15E529B6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Recursion, see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45BB-9830-1EBE-B746-2FA7FEC20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 function calls itself, it is called “recursion”</a:t>
            </a:r>
          </a:p>
          <a:p>
            <a:r>
              <a:rPr lang="en-US" dirty="0"/>
              <a:t>Recursion is a powerful programming concept</a:t>
            </a:r>
          </a:p>
          <a:p>
            <a:r>
              <a:rPr lang="en-US" dirty="0"/>
              <a:t>Recursion is essential to writing good code in special situations</a:t>
            </a:r>
          </a:p>
          <a:p>
            <a:pPr lvl="1"/>
            <a:r>
              <a:rPr lang="en-US" dirty="0"/>
              <a:t>Parsing expressions like (5 * 2) + ( ( 6 + 5 ) * 9 )</a:t>
            </a:r>
          </a:p>
          <a:p>
            <a:pPr lvl="1"/>
            <a:r>
              <a:rPr lang="en-US" dirty="0"/>
              <a:t>Traversing tree-like structures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Simple recursion examples (like this one) are very bad uses of recursion </a:t>
            </a:r>
            <a:r>
              <a:rPr lang="en-US">
                <a:solidFill>
                  <a:srgbClr val="FF0000"/>
                </a:solidFill>
              </a:rPr>
              <a:t>and mislead </a:t>
            </a:r>
            <a:r>
              <a:rPr lang="en-US" dirty="0">
                <a:solidFill>
                  <a:srgbClr val="FF0000"/>
                </a:solidFill>
              </a:rPr>
              <a:t>you as to the applications of recursion</a:t>
            </a:r>
          </a:p>
          <a:p>
            <a:r>
              <a:rPr lang="en-US" dirty="0"/>
              <a:t>We just want to see how a call stack makes recursion possible</a:t>
            </a:r>
          </a:p>
        </p:txBody>
      </p:sp>
    </p:spTree>
    <p:extLst>
      <p:ext uri="{BB962C8B-B14F-4D97-AF65-F5344CB8AC3E}">
        <p14:creationId xmlns:p14="http://schemas.microsoft.com/office/powerpoint/2010/main" val="154674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DE9A5-5B3D-0E5C-4BB2-78BFAEA0000F}"/>
              </a:ext>
            </a:extLst>
          </p:cNvPr>
          <p:cNvSpPr txBox="1"/>
          <p:nvPr/>
        </p:nvSpPr>
        <p:spPr>
          <a:xfrm>
            <a:off x="727223" y="674400"/>
            <a:ext cx="5368777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sumup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above)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below;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sum;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("In: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n",above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above &lt;= 1 ) return 1; // Stop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below = above - 1;       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("Down: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n",below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sum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sumup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(below);         // Recurse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("Back: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n",sum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above + sum;</a:t>
            </a:r>
          </a:p>
          <a:p>
            <a:r>
              <a:rPr lang="en-US" sz="1600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(”Ret: %d\n",</a:t>
            </a:r>
            <a:r>
              <a:rPr lang="en-US" sz="1600" b="1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sz="1600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  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sup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sumup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("Sup: %d\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n",sup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38CA8-8D5D-4541-3A04-89FD15B37620}"/>
              </a:ext>
            </a:extLst>
          </p:cNvPr>
          <p:cNvSpPr txBox="1"/>
          <p:nvPr/>
        </p:nvSpPr>
        <p:spPr>
          <a:xfrm>
            <a:off x="7043058" y="1817400"/>
            <a:ext cx="129554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In: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Down: 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In: 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Down: 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In: 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Back: 1</a:t>
            </a:r>
          </a:p>
          <a:p>
            <a:r>
              <a:rPr lang="en-US" sz="1600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Ret: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Back: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Ret: 6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Sup: 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129ABD-0F8C-5FE9-D016-DEB3008D966C}"/>
              </a:ext>
            </a:extLst>
          </p:cNvPr>
          <p:cNvSpPr/>
          <p:nvPr/>
        </p:nvSpPr>
        <p:spPr>
          <a:xfrm>
            <a:off x="9882564" y="411452"/>
            <a:ext cx="1582214" cy="603509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E4C860-C044-43F5-B3B6-F6925B10C2A3}"/>
              </a:ext>
            </a:extLst>
          </p:cNvPr>
          <p:cNvSpPr/>
          <p:nvPr/>
        </p:nvSpPr>
        <p:spPr>
          <a:xfrm>
            <a:off x="9882569" y="6016233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C760B9-B41B-A4B7-C950-61BAE4E27614}"/>
              </a:ext>
            </a:extLst>
          </p:cNvPr>
          <p:cNvSpPr/>
          <p:nvPr/>
        </p:nvSpPr>
        <p:spPr>
          <a:xfrm>
            <a:off x="10907492" y="6016233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4FA832-2D96-67CD-756F-B39145E07242}"/>
              </a:ext>
            </a:extLst>
          </p:cNvPr>
          <p:cNvSpPr/>
          <p:nvPr/>
        </p:nvSpPr>
        <p:spPr>
          <a:xfrm>
            <a:off x="9882568" y="5205247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6B982F-C68A-5DD0-CEC5-B863E9492B47}"/>
              </a:ext>
            </a:extLst>
          </p:cNvPr>
          <p:cNvSpPr/>
          <p:nvPr/>
        </p:nvSpPr>
        <p:spPr>
          <a:xfrm>
            <a:off x="10907491" y="5205247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5A2AD5-21A3-7463-4E09-BE8055AE097A}"/>
              </a:ext>
            </a:extLst>
          </p:cNvPr>
          <p:cNvSpPr/>
          <p:nvPr/>
        </p:nvSpPr>
        <p:spPr>
          <a:xfrm>
            <a:off x="9882564" y="4770150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below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A69012-830C-1E8D-2A75-338C9D4CAEA9}"/>
              </a:ext>
            </a:extLst>
          </p:cNvPr>
          <p:cNvSpPr/>
          <p:nvPr/>
        </p:nvSpPr>
        <p:spPr>
          <a:xfrm>
            <a:off x="10907487" y="4770150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61489A-CC4B-AA72-5313-E8CCE98DAF21}"/>
              </a:ext>
            </a:extLst>
          </p:cNvPr>
          <p:cNvSpPr/>
          <p:nvPr/>
        </p:nvSpPr>
        <p:spPr>
          <a:xfrm>
            <a:off x="9882558" y="4342536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AFC1EA-6202-1D56-0481-1DDBC79050DD}"/>
              </a:ext>
            </a:extLst>
          </p:cNvPr>
          <p:cNvSpPr/>
          <p:nvPr/>
        </p:nvSpPr>
        <p:spPr>
          <a:xfrm>
            <a:off x="10907481" y="4342536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861EA1-723A-953B-6507-F3D8E7F3F576}"/>
              </a:ext>
            </a:extLst>
          </p:cNvPr>
          <p:cNvSpPr/>
          <p:nvPr/>
        </p:nvSpPr>
        <p:spPr>
          <a:xfrm>
            <a:off x="9882546" y="3906088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E2D0E9-A1BB-3B69-0739-4E3D6EE7C5C1}"/>
              </a:ext>
            </a:extLst>
          </p:cNvPr>
          <p:cNvSpPr/>
          <p:nvPr/>
        </p:nvSpPr>
        <p:spPr>
          <a:xfrm>
            <a:off x="10907469" y="3906088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5D2C5C-A70D-BA5A-9042-DDC1B9416224}"/>
              </a:ext>
            </a:extLst>
          </p:cNvPr>
          <p:cNvSpPr/>
          <p:nvPr/>
        </p:nvSpPr>
        <p:spPr>
          <a:xfrm>
            <a:off x="9882545" y="3067888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5864DE-9085-85DB-B0CC-122B75B9C1DF}"/>
              </a:ext>
            </a:extLst>
          </p:cNvPr>
          <p:cNvSpPr/>
          <p:nvPr/>
        </p:nvSpPr>
        <p:spPr>
          <a:xfrm>
            <a:off x="10907468" y="3067888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65DA6A-D0C1-66D5-6FA2-AA3AE1B1BB3C}"/>
              </a:ext>
            </a:extLst>
          </p:cNvPr>
          <p:cNvSpPr/>
          <p:nvPr/>
        </p:nvSpPr>
        <p:spPr>
          <a:xfrm>
            <a:off x="9882541" y="2632791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668F5E-B312-242A-4FE9-C821E9758391}"/>
              </a:ext>
            </a:extLst>
          </p:cNvPr>
          <p:cNvSpPr/>
          <p:nvPr/>
        </p:nvSpPr>
        <p:spPr>
          <a:xfrm>
            <a:off x="10907464" y="2632791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7C6208-C68E-E35E-52A5-0452CB36E702}"/>
              </a:ext>
            </a:extLst>
          </p:cNvPr>
          <p:cNvSpPr/>
          <p:nvPr/>
        </p:nvSpPr>
        <p:spPr>
          <a:xfrm>
            <a:off x="9882535" y="2205177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EA6888-C86A-E939-2828-B5BE24AD21BF}"/>
              </a:ext>
            </a:extLst>
          </p:cNvPr>
          <p:cNvSpPr/>
          <p:nvPr/>
        </p:nvSpPr>
        <p:spPr>
          <a:xfrm>
            <a:off x="10907458" y="2205177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A4D62A-4A2A-B3B3-0FFA-F2FCA4922B0C}"/>
              </a:ext>
            </a:extLst>
          </p:cNvPr>
          <p:cNvSpPr/>
          <p:nvPr/>
        </p:nvSpPr>
        <p:spPr>
          <a:xfrm>
            <a:off x="9882523" y="1768729"/>
            <a:ext cx="1582208" cy="43270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7B482E-868B-B0DA-01CE-E3DB19484E9C}"/>
              </a:ext>
            </a:extLst>
          </p:cNvPr>
          <p:cNvSpPr/>
          <p:nvPr/>
        </p:nvSpPr>
        <p:spPr>
          <a:xfrm>
            <a:off x="10907446" y="1768729"/>
            <a:ext cx="557284" cy="432707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Up-Down Arrow 43">
            <a:extLst>
              <a:ext uri="{FF2B5EF4-FFF2-40B4-BE49-F238E27FC236}">
                <a16:creationId xmlns:a16="http://schemas.microsoft.com/office/drawing/2014/main" id="{FD251668-E1DC-9262-BEC4-4E07C8BFAF76}"/>
              </a:ext>
            </a:extLst>
          </p:cNvPr>
          <p:cNvSpPr/>
          <p:nvPr/>
        </p:nvSpPr>
        <p:spPr>
          <a:xfrm>
            <a:off x="10487317" y="671164"/>
            <a:ext cx="372619" cy="81305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BC09AA-EAEF-88EA-A136-E9913AE4C91A}"/>
              </a:ext>
            </a:extLst>
          </p:cNvPr>
          <p:cNvSpPr txBox="1"/>
          <p:nvPr/>
        </p:nvSpPr>
        <p:spPr>
          <a:xfrm>
            <a:off x="8598630" y="-1296751"/>
            <a:ext cx="73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159C5051-B880-BA2D-2E8C-6EB74D29B90B}"/>
              </a:ext>
            </a:extLst>
          </p:cNvPr>
          <p:cNvSpPr/>
          <p:nvPr/>
        </p:nvSpPr>
        <p:spPr>
          <a:xfrm>
            <a:off x="9363486" y="1768729"/>
            <a:ext cx="470677" cy="1731866"/>
          </a:xfrm>
          <a:prstGeom prst="leftBrace">
            <a:avLst/>
          </a:prstGeom>
          <a:ln w="28575">
            <a:solidFill>
              <a:srgbClr val="3E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72D46-3BA1-CAB2-D1EE-E25091E387F5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kr_04_03.c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55B4B-9419-C5EF-5C3B-DDA468146540}"/>
              </a:ext>
            </a:extLst>
          </p:cNvPr>
          <p:cNvSpPr txBox="1"/>
          <p:nvPr/>
        </p:nvSpPr>
        <p:spPr>
          <a:xfrm>
            <a:off x="8798708" y="1878270"/>
            <a:ext cx="80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r>
              <a:rPr lang="en-US" dirty="0"/>
              <a:t>frame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3A52E-14C3-BCB0-1142-2BB78E4611E3}"/>
              </a:ext>
            </a:extLst>
          </p:cNvPr>
          <p:cNvSpPr txBox="1"/>
          <p:nvPr/>
        </p:nvSpPr>
        <p:spPr>
          <a:xfrm>
            <a:off x="4561841" y="671164"/>
            <a:ext cx="2435282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sumup</a:t>
            </a:r>
            <a:r>
              <a:rPr lang="en-US" dirty="0"/>
              <a:t>(3) = 1 + 2 + 3 = 6</a:t>
            </a:r>
          </a:p>
        </p:txBody>
      </p:sp>
    </p:spTree>
    <p:extLst>
      <p:ext uri="{BB962C8B-B14F-4D97-AF65-F5344CB8AC3E}">
        <p14:creationId xmlns:p14="http://schemas.microsoft.com/office/powerpoint/2010/main" val="346969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E460-3B9E-0C94-30C0-5AA55AAF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Pre 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128A-08B5-673B-CFE8-E3156CD0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C solved many of the problems that led to the ability to build portable applications, things were always in flux</a:t>
            </a:r>
          </a:p>
          <a:p>
            <a:pPr lvl="1"/>
            <a:r>
              <a:rPr lang="en-US" dirty="0"/>
              <a:t>Language evolution</a:t>
            </a:r>
          </a:p>
          <a:p>
            <a:pPr lvl="1"/>
            <a:r>
              <a:rPr lang="en-US" dirty="0"/>
              <a:t>Library evolution</a:t>
            </a:r>
          </a:p>
          <a:p>
            <a:pPr lvl="1"/>
            <a:r>
              <a:rPr lang="en-US" dirty="0"/>
              <a:t>Hardware evolution</a:t>
            </a:r>
          </a:p>
          <a:p>
            <a:pPr lvl="1"/>
            <a:r>
              <a:rPr lang="en-US" dirty="0"/>
              <a:t>Operating system evolution</a:t>
            </a:r>
          </a:p>
          <a:p>
            <a:r>
              <a:rPr lang="en-US" dirty="0"/>
              <a:t>The pre-processor allowed for adjusting to these changes without breaking backwards compatibility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BFAEA-8CE0-231F-3768-5E876AE8E7FA}"/>
              </a:ext>
            </a:extLst>
          </p:cNvPr>
          <p:cNvSpPr txBox="1"/>
          <p:nvPr/>
        </p:nvSpPr>
        <p:spPr>
          <a:xfrm>
            <a:off x="4995417" y="5388570"/>
            <a:ext cx="6825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 The second incompleteness theorem, an extension of the first, shows that the system cannot demonstrate its own consistency. </a:t>
            </a:r>
          </a:p>
          <a:p>
            <a:r>
              <a:rPr lang="en-US" dirty="0"/>
              <a:t>                        --- </a:t>
            </a:r>
            <a:r>
              <a:rPr lang="en-US" b="1" dirty="0"/>
              <a:t>Gödel's incompleteness theorems</a:t>
            </a:r>
          </a:p>
        </p:txBody>
      </p:sp>
    </p:spTree>
    <p:extLst>
      <p:ext uri="{BB962C8B-B14F-4D97-AF65-F5344CB8AC3E}">
        <p14:creationId xmlns:p14="http://schemas.microsoft.com/office/powerpoint/2010/main" val="224415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1FBA055-B204-4D02-B979-F74380C365C8}"/>
              </a:ext>
            </a:extLst>
          </p:cNvPr>
          <p:cNvSpPr txBox="1"/>
          <p:nvPr/>
        </p:nvSpPr>
        <p:spPr>
          <a:xfrm>
            <a:off x="985157" y="1773416"/>
            <a:ext cx="27767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#ifdef USE_LONG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INT_32 long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#else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INT_32 int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#endif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INT_32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ipaddress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F72A3-ECEE-C2C7-3DBC-65EEE84D3D84}"/>
              </a:ext>
            </a:extLst>
          </p:cNvPr>
          <p:cNvSpPr txBox="1"/>
          <p:nvPr/>
        </p:nvSpPr>
        <p:spPr>
          <a:xfrm>
            <a:off x="6958207" y="1784016"/>
            <a:ext cx="48750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(const char * restrict, ...)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putc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(int, FILE *);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putchar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puts(const char *);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remove(const char *);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rewind(FILE *);</a:t>
            </a:r>
          </a:p>
          <a:p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 err="1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solidFill>
                  <a:srgbClr val="4472C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(const char * restrict, ...)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ipaddress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19689AE-0C60-3ACF-0F4B-95870AA81D07}"/>
              </a:ext>
            </a:extLst>
          </p:cNvPr>
          <p:cNvSpPr/>
          <p:nvPr/>
        </p:nvSpPr>
        <p:spPr>
          <a:xfrm>
            <a:off x="3761879" y="3210560"/>
            <a:ext cx="2776722" cy="10235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–E kr_04_04.c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B4657-E39B-3155-1639-E329296F9B09}"/>
              </a:ext>
            </a:extLst>
          </p:cNvPr>
          <p:cNvSpPr txBox="1"/>
          <p:nvPr/>
        </p:nvSpPr>
        <p:spPr>
          <a:xfrm>
            <a:off x="293915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kr_04_04.c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BB7F8-CECD-E8EF-1ABA-33CF20AE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 C Source code to C Source code</a:t>
            </a:r>
          </a:p>
        </p:txBody>
      </p:sp>
    </p:spTree>
    <p:extLst>
      <p:ext uri="{BB962C8B-B14F-4D97-AF65-F5344CB8AC3E}">
        <p14:creationId xmlns:p14="http://schemas.microsoft.com/office/powerpoint/2010/main" val="1640140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35D4B3-CA2E-4DD2-B4B8-425FA3188E1F}"/>
              </a:ext>
            </a:extLst>
          </p:cNvPr>
          <p:cNvSpPr txBox="1"/>
          <p:nvPr/>
        </p:nvSpPr>
        <p:spPr>
          <a:xfrm>
            <a:off x="2295525" y="5460762"/>
            <a:ext cx="7172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/csev/xmosaic-1.2/blob/master/</a:t>
            </a:r>
            <a:r>
              <a:rPr lang="en-US" dirty="0" err="1"/>
              <a:t>libwww</a:t>
            </a:r>
            <a:r>
              <a:rPr lang="en-US" dirty="0"/>
              <a:t>/HTTCP.c#L47</a:t>
            </a:r>
          </a:p>
        </p:txBody>
      </p:sp>
      <p:pic>
        <p:nvPicPr>
          <p:cNvPr id="54" name="Picture 53" descr="Source code from XMosaic 1.2 - the precise code is less important than the complexity of the code.&#10;&#10;https://github.com/csev/xmosaic-1.2/blob/master/libwww/HTTCP.c#L47">
            <a:extLst>
              <a:ext uri="{FF2B5EF4-FFF2-40B4-BE49-F238E27FC236}">
                <a16:creationId xmlns:a16="http://schemas.microsoft.com/office/drawing/2014/main" id="{8FEACF99-E0AD-29C6-4DC3-EBB6F7EEB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64"/>
          <a:stretch/>
        </p:blipFill>
        <p:spPr>
          <a:xfrm>
            <a:off x="8249557" y="1027906"/>
            <a:ext cx="3479800" cy="3921207"/>
          </a:xfrm>
          <a:prstGeom prst="rect">
            <a:avLst/>
          </a:prstGeom>
        </p:spPr>
      </p:pic>
      <p:sp>
        <p:nvSpPr>
          <p:cNvPr id="55" name="Title 54">
            <a:extLst>
              <a:ext uri="{FF2B5EF4-FFF2-40B4-BE49-F238E27FC236}">
                <a16:creationId xmlns:a16="http://schemas.microsoft.com/office/drawing/2014/main" id="{83466623-66F6-2D88-B914-BC766E88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Delivering real portability …</a:t>
            </a:r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E3F4C29E-4A05-B52D-B70A-F796B17D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79029" cy="3229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this example C snippet from </a:t>
            </a:r>
            <a:r>
              <a:rPr lang="en-US" dirty="0" err="1"/>
              <a:t>XMosaic</a:t>
            </a:r>
            <a:r>
              <a:rPr lang="en-US" dirty="0"/>
              <a:t> 1.2 from 1994, we see constant effort to use the pre-processor so we can compile the program on a wide range of operating systems and even versions of those operating systems.</a:t>
            </a:r>
          </a:p>
          <a:p>
            <a:r>
              <a:rPr lang="en-US" dirty="0"/>
              <a:t>The code makes network connections and handles errors</a:t>
            </a:r>
          </a:p>
        </p:txBody>
      </p:sp>
    </p:spTree>
    <p:extLst>
      <p:ext uri="{BB962C8B-B14F-4D97-AF65-F5344CB8AC3E}">
        <p14:creationId xmlns:p14="http://schemas.microsoft.com/office/powerpoint/2010/main" val="1916434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D5DF8A-3D98-DC7E-85E8-EAC7EDC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791E68-B219-7E1C-2218-042D2ED13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type – the universal pointer</a:t>
            </a:r>
          </a:p>
          <a:p>
            <a:r>
              <a:rPr lang="en-US" dirty="0"/>
              <a:t>Passing arrays by reference</a:t>
            </a:r>
          </a:p>
          <a:p>
            <a:r>
              <a:rPr lang="en-US" dirty="0"/>
              <a:t>Recursion</a:t>
            </a:r>
          </a:p>
          <a:p>
            <a:r>
              <a:rPr lang="en-US" dirty="0"/>
              <a:t>The Pre Processor</a:t>
            </a:r>
          </a:p>
        </p:txBody>
      </p:sp>
    </p:spTree>
    <p:extLst>
      <p:ext uri="{BB962C8B-B14F-4D97-AF65-F5344CB8AC3E}">
        <p14:creationId xmlns:p14="http://schemas.microsoft.com/office/powerpoint/2010/main" val="3953165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AE3D-C70D-220E-82A8-C1D64A9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/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25F2C-A6DC-4096-AD36-A6A5AF1FFD40}"/>
              </a:ext>
            </a:extLst>
          </p:cNvPr>
          <p:cNvSpPr txBox="1"/>
          <p:nvPr/>
        </p:nvSpPr>
        <p:spPr>
          <a:xfrm>
            <a:off x="838201" y="1502688"/>
            <a:ext cx="50557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slides are </a:t>
            </a:r>
            <a:r>
              <a:rPr lang="en-US" sz="1200"/>
              <a:t>Copyright 2023-  </a:t>
            </a:r>
            <a:r>
              <a:rPr lang="en-US" sz="1200" dirty="0"/>
              <a:t>Charles R. Severance (</a:t>
            </a:r>
            <a:r>
              <a:rPr lang="en-US" sz="1200" dirty="0" err="1"/>
              <a:t>online.dr-chuck.com</a:t>
            </a:r>
            <a:r>
              <a:rPr lang="en-US" sz="1200" dirty="0"/>
              <a:t>) as part of www.cc4e.com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lang="en-US" sz="1200" dirty="0"/>
          </a:p>
          <a:p>
            <a:r>
              <a:rPr lang="en-US" sz="1200" dirty="0"/>
              <a:t>Initial Development: Charles Severance, University of Michigan School of Information</a:t>
            </a:r>
          </a:p>
          <a:p>
            <a:endParaRPr lang="en-US" sz="1200" dirty="0"/>
          </a:p>
          <a:p>
            <a:r>
              <a:rPr lang="en-US" sz="1200" b="1" dirty="0"/>
              <a:t>Insert new Contributors and Translators here including names and dates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0D5A1-502A-F6A1-76FD-6D954B37EE94}"/>
              </a:ext>
            </a:extLst>
          </p:cNvPr>
          <p:cNvSpPr txBox="1"/>
          <p:nvPr/>
        </p:nvSpPr>
        <p:spPr>
          <a:xfrm>
            <a:off x="6298097" y="1502688"/>
            <a:ext cx="50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Continue new Contributors and Translators here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388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2344</Words>
  <Application>Microsoft Macintosh PowerPoint</Application>
  <PresentationFormat>宽屏</PresentationFormat>
  <Paragraphs>427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Menlo</vt:lpstr>
      <vt:lpstr>Wingdings</vt:lpstr>
      <vt:lpstr>Office Theme</vt:lpstr>
      <vt:lpstr>K&amp;R Chapter 4 Functions and Program Structure</vt:lpstr>
      <vt:lpstr>Chapter 4 – Unique Areas</vt:lpstr>
      <vt:lpstr>What is a “stack”</vt:lpstr>
      <vt:lpstr>What is a “stack”</vt:lpstr>
      <vt:lpstr>Using a stack to implement call by value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Are arrays call by value in C?  Sort of.</vt:lpstr>
      <vt:lpstr>PowerPoint 演示文稿</vt:lpstr>
      <vt:lpstr>Register Variables</vt:lpstr>
      <vt:lpstr>Recursion, see recursion</vt:lpstr>
      <vt:lpstr>PowerPoint 演示文稿</vt:lpstr>
      <vt:lpstr>The C Pre Processor</vt:lpstr>
      <vt:lpstr>Transform C Source code to C Source code</vt:lpstr>
      <vt:lpstr>Delivering real portability …</vt:lpstr>
      <vt:lpstr>Summary</vt:lpstr>
      <vt:lpstr>Acknowledgements /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Python and C</dc:title>
  <dc:creator>Microsoft Office User</dc:creator>
  <cp:lastModifiedBy>a86779</cp:lastModifiedBy>
  <cp:revision>105</cp:revision>
  <dcterms:created xsi:type="dcterms:W3CDTF">2022-07-26T07:32:28Z</dcterms:created>
  <dcterms:modified xsi:type="dcterms:W3CDTF">2025-12-23T16:56:46Z</dcterms:modified>
</cp:coreProperties>
</file>