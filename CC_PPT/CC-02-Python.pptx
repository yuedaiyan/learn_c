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86" r:id="rId7"/>
    <p:sldId id="287" r:id="rId8"/>
    <p:sldId id="276" r:id="rId9"/>
    <p:sldId id="28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3" r:id="rId19"/>
    <p:sldId id="274" r:id="rId20"/>
    <p:sldId id="281" r:id="rId21"/>
    <p:sldId id="275" r:id="rId22"/>
    <p:sldId id="28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84"/>
    <p:restoredTop sz="96966"/>
  </p:normalViewPr>
  <p:slideViewPr>
    <p:cSldViewPr snapToGrid="0" snapToObjects="1">
      <p:cViewPr>
        <p:scale>
          <a:sx n="146" d="100"/>
          <a:sy n="146" d="100"/>
        </p:scale>
        <p:origin x="416" y="696"/>
      </p:cViewPr>
      <p:guideLst/>
    </p:cSldViewPr>
  </p:slideViewPr>
  <p:outlineViewPr>
    <p:cViewPr>
      <p:scale>
        <a:sx n="33" d="100"/>
        <a:sy n="33" d="100"/>
      </p:scale>
      <p:origin x="0" y="-924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460-1633-341C-3CC8-92840593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4C032-CA96-4ABF-ED9C-CCFBCF308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B96C-8F88-816C-D027-6E50EC3D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C6854-78F7-2111-4EEF-FE308E2C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C7E04-F09E-DFC4-C070-26900C1D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7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E766-436C-7E66-C493-0E9F486D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C3B2-8A01-4A71-0BEA-ED75632F7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7C0B-F538-3B47-4A1D-405E90B4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D7DC-A689-4810-BD56-A6D5B44F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620AD-26BD-8D73-1F87-BF6DC3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8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B7FC-F1AE-06FD-FB11-8EC7DF65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71CB2-3C0E-C223-F118-EBF495E91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26BF7-B2D5-D401-3EF9-620C7E1A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99F9-B023-378B-554E-846FA197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09B5-606E-C92D-CA52-4478BBEB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8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5818-3F27-F2AC-11F8-5FD78E73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1E87-683B-7031-2CE5-AAAFA4E54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1C0B-7923-56A4-588E-2EC70CB0F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3C278-3302-DEE9-7BF9-A487E181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B8336-B700-A50E-1C9F-25661C16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CC7-3ECD-6AEC-010E-420316EB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6403-EDD6-84C8-5DF8-F2095D0E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92F63-453E-C708-C24F-2F432386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61F98-A097-F466-F047-98D413BB9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27AD1-C706-BC6D-8001-411235498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45390-893B-5C01-ADC8-CF5F7A669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22938-5AD8-CC20-E631-43DE8462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7BDCB7-F97C-A810-DEAD-D2360157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47164-991E-A5FC-C24A-98E68D07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9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207F-EB96-53FE-8D30-ED6E1A28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B4068-00D1-3E34-26CA-EC5EE9FF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8C7F9-D849-37BF-DAFF-339953E5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BFC42-A63D-D449-2CFD-6F74C4B1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3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9479F-F3F5-1F8F-57C4-9E9730C7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09891-CEC3-9507-1DB1-8A952D46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FBE7-72D0-ACDC-B906-F9B739E1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1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EA14-B3BC-DCE9-7139-C4E87D5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F18E-1616-B225-64A9-E4FEC99BD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7E186-2DD2-319F-88D8-CD44E7269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E016-B993-48B2-3AB3-E3644DE7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BE3AE-4187-CD14-3407-947A6AB3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C71A0-6FDD-802D-FB7B-ED49070F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4AE2-C0F6-DA29-8D58-6AE99118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2F294-A82B-D670-A816-D85903594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9858A-083C-9E99-B738-E7C520CFE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7CA85-7E18-7977-09AE-3A036FCB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421CD-6091-9164-5E5E-F636C761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738C0-DF17-2CE9-8202-5453847F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9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10F8-49BD-9DF0-4BA1-32901029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6BDBC-29CF-5ED3-453D-F7000E32C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096A-1F1F-472A-02F3-A0AF0194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7273A-C68C-081A-67B0-3122B85D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0D66F-72BE-B98B-9218-B22A30E0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2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9B9B4-EAB6-E378-1644-3785D339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6BF26-EDD4-4726-3A5E-18D995596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B6C5-7BA5-C29A-3AA5-F702552A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45CB-90B3-059F-6F84-804EAE5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A1EF-3972-7CE8-EEE7-7F48805A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9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AA03A-8F7B-3EBB-CA86-B6FF6906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AB1F1-B30C-1EAF-D6FD-B68FB54C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5429-C59F-1008-625C-51F265618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938A-C9BA-0346-A74F-83EB1631032C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D9D4A-1765-C901-53BC-4FE38FF51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90406-735C-D46E-82D9-A4090C508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4e.com/" TargetMode="External"/><Relationship Id="rId7" Type="http://schemas.openxmlformats.org/officeDocument/2006/relationships/hyperlink" Target="http://www.cc4e.com/" TargetMode="External"/><Relationship Id="rId2" Type="http://schemas.openxmlformats.org/officeDocument/2006/relationships/hyperlink" Target="https://ihts.dr-chuc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g4e.com/" TargetMode="External"/><Relationship Id="rId5" Type="http://schemas.openxmlformats.org/officeDocument/2006/relationships/hyperlink" Target="http://www.wa4e.com/" TargetMode="External"/><Relationship Id="rId4" Type="http://schemas.openxmlformats.org/officeDocument/2006/relationships/hyperlink" Target="http://www.dj4e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BD08-7DEA-A642-76EB-A25C2FB65E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/>
              <a:t>Python to </a:t>
            </a:r>
            <a:r>
              <a:rPr lang="en-US" dirty="0"/>
              <a:t>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1E4BA-302F-088B-C8D3-AEA9EACCC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Charles R. Severance</a:t>
            </a:r>
          </a:p>
          <a:p>
            <a:r>
              <a:rPr lang="en-US" dirty="0"/>
              <a:t>www.cc4e.com</a:t>
            </a:r>
          </a:p>
          <a:p>
            <a:r>
              <a:rPr lang="en-US" dirty="0"/>
              <a:t>code.cc4e.com (sample code)</a:t>
            </a:r>
          </a:p>
          <a:p>
            <a:r>
              <a:rPr lang="en-US"/>
              <a:t>online.dr-chuck.com</a:t>
            </a:r>
            <a:endParaRPr lang="en-US" dirty="0"/>
          </a:p>
        </p:txBody>
      </p:sp>
      <p:pic>
        <p:nvPicPr>
          <p:cNvPr id="4" name="Picture 6" descr="CCby.png">
            <a:extLst>
              <a:ext uri="{FF2B5EF4-FFF2-40B4-BE49-F238E27FC236}">
                <a16:creationId xmlns:a16="http://schemas.microsoft.com/office/drawing/2014/main" id="{DDF2BE34-0BEB-2DDA-D561-C5B7A903C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772" y="6185766"/>
            <a:ext cx="110807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752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274DEE-D1AC-013C-05CA-6882B096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4" y="305490"/>
            <a:ext cx="10515600" cy="1325563"/>
          </a:xfrm>
        </p:spPr>
        <p:txBody>
          <a:bodyPr/>
          <a:lstStyle/>
          <a:p>
            <a:r>
              <a:rPr lang="en-US" dirty="0"/>
              <a:t>Evolution of Computer Languages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A2A05793-10E1-0730-426F-77E658E27EE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7974" y="-59635"/>
            <a:ext cx="12439974" cy="6977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476FB90-D717-251F-2F59-057D9885CA63}"/>
              </a:ext>
            </a:extLst>
          </p:cNvPr>
          <p:cNvGrpSpPr/>
          <p:nvPr/>
        </p:nvGrpSpPr>
        <p:grpSpPr>
          <a:xfrm>
            <a:off x="93" y="239627"/>
            <a:ext cx="11208188" cy="6186783"/>
            <a:chOff x="228600" y="285750"/>
            <a:chExt cx="8305800" cy="45847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3B20CE7-0DC7-0995-B028-8BA82F5DBC9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36750"/>
              <a:ext cx="1509713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70811CDD-9B32-57B4-5D41-E9F3BEBE105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5388" y="779463"/>
              <a:ext cx="2119312" cy="661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CED075BF-0E32-8B73-E6F2-18EEB919B7D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0500" y="1346200"/>
              <a:ext cx="879475" cy="722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9DD94B91-84E8-2B3E-BB0D-14473160298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413" y="1939925"/>
              <a:ext cx="1069975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CA7B4E8F-166A-4035-1501-7F8438BB3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675" y="539750"/>
              <a:ext cx="1492250" cy="222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1575" dirty="0">
                  <a:solidFill>
                    <a:srgbClr val="66FF66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Science Calculations</a:t>
              </a:r>
            </a:p>
          </p:txBody>
        </p: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BA587D78-A1BF-3277-D260-38405D192D2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388" y="2225675"/>
              <a:ext cx="506412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F28B8BB3-E1ED-293D-5F85-4019B5920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38" y="1704975"/>
              <a:ext cx="549275" cy="220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1575">
                  <a:solidFill>
                    <a:srgbClr val="FFFF66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System</a:t>
              </a:r>
            </a:p>
          </p:txBody>
        </p:sp>
        <p:pic>
          <p:nvPicPr>
            <p:cNvPr id="14" name="Picture 9">
              <a:extLst>
                <a:ext uri="{FF2B5EF4-FFF2-40B4-BE49-F238E27FC236}">
                  <a16:creationId xmlns:a16="http://schemas.microsoft.com/office/drawing/2014/main" id="{4FAB500A-43FE-50FF-2495-370939F52EE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850" y="3257550"/>
              <a:ext cx="1390650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B496AF26-0A04-CA7F-C4C4-2EAB2E8D2FD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388" y="3824288"/>
              <a:ext cx="1752600" cy="661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488439A0-D195-F4DB-A81B-6830D273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00" y="4619625"/>
              <a:ext cx="56388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algn="ctr"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ＭＳ Ｐゴシック" panose="020B0600070205080204" pitchFamily="34" charset="-128"/>
                  <a:cs typeface="Gill Sans" panose="020B0502020104020203" pitchFamily="34" charset="-79"/>
                  <a:sym typeface="Gill Sans" panose="020B0502020104020203" pitchFamily="34" charset="-79"/>
                </a:defRPr>
              </a:lvl1pPr>
              <a:lvl2pPr marL="742950" indent="-285750" algn="ctr"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2pPr>
              <a:lvl3pPr marL="1143000" indent="-228600" algn="ctr"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3pPr>
              <a:lvl4pPr marL="1600200" indent="-228600" algn="ctr"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4pPr>
              <a:lvl5pPr marL="2057400" indent="-228600" algn="ctr"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5pPr>
              <a:lvl6pPr marL="2514600" indent="-228600" algn="ctr" defTabSz="25717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6pPr>
              <a:lvl7pPr marL="2971800" indent="-228600" algn="ctr" defTabSz="25717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7pPr>
              <a:lvl8pPr marL="3429000" indent="-228600" algn="ctr" defTabSz="25717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8pPr>
              <a:lvl9pPr marL="3886200" indent="-228600" algn="ctr" defTabSz="25717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FFFFF"/>
                  </a:solidFill>
                  <a:latin typeface="Gill Sans" panose="020B0502020104020203" pitchFamily="34" charset="-79"/>
                  <a:ea typeface="Gill Sans" panose="020B0502020104020203" pitchFamily="34" charset="-79"/>
                  <a:cs typeface="Gill Sans" panose="020B0502020104020203" pitchFamily="34" charset="-79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FF00"/>
                  </a:solidFill>
                </a:rPr>
                <a:t>http://en.wikipedia.org/wiki/History_of_programming_languages</a:t>
              </a:r>
            </a:p>
          </p:txBody>
        </p:sp>
        <p:pic>
          <p:nvPicPr>
            <p:cNvPr id="17" name="Picture 12">
              <a:extLst>
                <a:ext uri="{FF2B5EF4-FFF2-40B4-BE49-F238E27FC236}">
                  <a16:creationId xmlns:a16="http://schemas.microsoft.com/office/drawing/2014/main" id="{00A1248C-25E5-6818-E4B4-20BE363B346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1939925"/>
              <a:ext cx="1306513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62AD2CC8-B902-232A-0A4B-5D8957A411D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4863" y="2260600"/>
              <a:ext cx="6096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4">
              <a:extLst>
                <a:ext uri="{FF2B5EF4-FFF2-40B4-BE49-F238E27FC236}">
                  <a16:creationId xmlns:a16="http://schemas.microsoft.com/office/drawing/2014/main" id="{A430C798-EC1F-74A5-481C-D65851B9902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0663" y="1177925"/>
              <a:ext cx="1497012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5">
              <a:extLst>
                <a:ext uri="{FF2B5EF4-FFF2-40B4-BE49-F238E27FC236}">
                  <a16:creationId xmlns:a16="http://schemas.microsoft.com/office/drawing/2014/main" id="{E23879A9-39AD-AE58-C179-4871E82E5E1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9725" y="285750"/>
              <a:ext cx="2173288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6">
              <a:extLst>
                <a:ext uri="{FF2B5EF4-FFF2-40B4-BE49-F238E27FC236}">
                  <a16:creationId xmlns:a16="http://schemas.microsoft.com/office/drawing/2014/main" id="{B54D2619-A745-EBBB-B2CA-10206FE7238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4913" y="3362325"/>
              <a:ext cx="1339850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7">
              <a:extLst>
                <a:ext uri="{FF2B5EF4-FFF2-40B4-BE49-F238E27FC236}">
                  <a16:creationId xmlns:a16="http://schemas.microsoft.com/office/drawing/2014/main" id="{69A6EFDF-9F32-0E0E-E756-E8862BDD50F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2975" y="1639888"/>
              <a:ext cx="1193800" cy="663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C2E70D24-157E-B7DE-FD71-56ABD3AA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638" y="1271588"/>
              <a:ext cx="550862" cy="222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1575">
                  <a:solidFill>
                    <a:srgbClr val="FFFF66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System</a:t>
              </a: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AEE23D76-40E5-1563-FDE4-319226D6E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3975" y="4113213"/>
              <a:ext cx="860425" cy="444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1575">
                  <a:solidFill>
                    <a:srgbClr val="FF6666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Scripting/</a:t>
              </a:r>
            </a:p>
            <a:p>
              <a:pPr algn="ctr" eaLnBrk="1" hangingPunct="1">
                <a:defRPr/>
              </a:pPr>
              <a:r>
                <a:rPr lang="en-US" sz="1575" dirty="0">
                  <a:solidFill>
                    <a:srgbClr val="FF6666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Interpreted</a:t>
              </a:r>
            </a:p>
          </p:txBody>
        </p:sp>
        <p:pic>
          <p:nvPicPr>
            <p:cNvPr id="25" name="Picture 20">
              <a:extLst>
                <a:ext uri="{FF2B5EF4-FFF2-40B4-BE49-F238E27FC236}">
                  <a16:creationId xmlns:a16="http://schemas.microsoft.com/office/drawing/2014/main" id="{CF353C7B-30E7-48CE-64BC-A2A490E4DD3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0525" y="731838"/>
              <a:ext cx="1371600" cy="1384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1">
              <a:extLst>
                <a:ext uri="{FF2B5EF4-FFF2-40B4-BE49-F238E27FC236}">
                  <a16:creationId xmlns:a16="http://schemas.microsoft.com/office/drawing/2014/main" id="{D662CFF7-745D-96E6-AA63-FEE5EBDBB67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8338" y="949325"/>
              <a:ext cx="666750" cy="1130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2">
              <a:extLst>
                <a:ext uri="{FF2B5EF4-FFF2-40B4-BE49-F238E27FC236}">
                  <a16:creationId xmlns:a16="http://schemas.microsoft.com/office/drawing/2014/main" id="{C0F5F842-8E97-1A4F-9F94-E79F23C01E8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184400"/>
              <a:ext cx="24193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3">
              <a:extLst>
                <a:ext uri="{FF2B5EF4-FFF2-40B4-BE49-F238E27FC236}">
                  <a16:creationId xmlns:a16="http://schemas.microsoft.com/office/drawing/2014/main" id="{24B9E0D7-B2D0-9066-04E9-802353DFF12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1477963"/>
              <a:ext cx="827087" cy="557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4">
              <a:extLst>
                <a:ext uri="{FF2B5EF4-FFF2-40B4-BE49-F238E27FC236}">
                  <a16:creationId xmlns:a16="http://schemas.microsoft.com/office/drawing/2014/main" id="{BD19C718-DE53-99AB-EBB2-55063C16183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7050" y="1458913"/>
              <a:ext cx="2370138" cy="62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5">
              <a:extLst>
                <a:ext uri="{FF2B5EF4-FFF2-40B4-BE49-F238E27FC236}">
                  <a16:creationId xmlns:a16="http://schemas.microsoft.com/office/drawing/2014/main" id="{E5061CBB-6C80-0877-3721-61B86EFF858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9725" y="1489075"/>
              <a:ext cx="762000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6">
              <a:extLst>
                <a:ext uri="{FF2B5EF4-FFF2-40B4-BE49-F238E27FC236}">
                  <a16:creationId xmlns:a16="http://schemas.microsoft.com/office/drawing/2014/main" id="{1DD20214-65C3-F2D1-CE0B-38FAE354671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5775" y="2522538"/>
              <a:ext cx="112713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27">
              <a:extLst>
                <a:ext uri="{FF2B5EF4-FFF2-40B4-BE49-F238E27FC236}">
                  <a16:creationId xmlns:a16="http://schemas.microsoft.com/office/drawing/2014/main" id="{5D3297C1-5DBC-A656-F2FF-E9961338076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2000" y="2513013"/>
              <a:ext cx="3057525" cy="1042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28">
              <a:extLst>
                <a:ext uri="{FF2B5EF4-FFF2-40B4-BE49-F238E27FC236}">
                  <a16:creationId xmlns:a16="http://schemas.microsoft.com/office/drawing/2014/main" id="{E7E369BE-D110-C28F-9DA2-0D8B6CFFD2C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2513013"/>
              <a:ext cx="1938338" cy="1408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29">
              <a:extLst>
                <a:ext uri="{FF2B5EF4-FFF2-40B4-BE49-F238E27FC236}">
                  <a16:creationId xmlns:a16="http://schemas.microsoft.com/office/drawing/2014/main" id="{0AD04543-C68A-68C5-EE1F-32BA09BE014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8125" y="3565525"/>
              <a:ext cx="23812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0">
              <a:extLst>
                <a:ext uri="{FF2B5EF4-FFF2-40B4-BE49-F238E27FC236}">
                  <a16:creationId xmlns:a16="http://schemas.microsoft.com/office/drawing/2014/main" id="{7EB8F245-6994-210F-F189-8F8A336F7D9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3388" y="2479675"/>
              <a:ext cx="2263775" cy="661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1">
              <a:extLst>
                <a:ext uri="{FF2B5EF4-FFF2-40B4-BE49-F238E27FC236}">
                  <a16:creationId xmlns:a16="http://schemas.microsoft.com/office/drawing/2014/main" id="{5A2322CB-3723-825B-4B65-2776F6AEA4B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4388" y="2501900"/>
              <a:ext cx="2270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ectangle 32">
              <a:extLst>
                <a:ext uri="{FF2B5EF4-FFF2-40B4-BE49-F238E27FC236}">
                  <a16:creationId xmlns:a16="http://schemas.microsoft.com/office/drawing/2014/main" id="{7B252B69-8F2C-FB5F-BC38-5C01A64DB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475" y="3141663"/>
              <a:ext cx="1365250" cy="642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 eaLnBrk="1" hangingPunct="1">
                <a:defRPr/>
              </a:pPr>
              <a:r>
                <a:rPr lang="en-US" sz="1575">
                  <a:solidFill>
                    <a:srgbClr val="FF8000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C uses curly braces { } for code blocks.</a:t>
              </a:r>
            </a:p>
          </p:txBody>
        </p:sp>
        <p:pic>
          <p:nvPicPr>
            <p:cNvPr id="38" name="Picture 33">
              <a:extLst>
                <a:ext uri="{FF2B5EF4-FFF2-40B4-BE49-F238E27FC236}">
                  <a16:creationId xmlns:a16="http://schemas.microsoft.com/office/drawing/2014/main" id="{FA7F5C3C-B828-5DD4-0E33-221A22F33FB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6150" y="3852863"/>
              <a:ext cx="1028700" cy="387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Rectangle 19">
              <a:extLst>
                <a:ext uri="{FF2B5EF4-FFF2-40B4-BE49-F238E27FC236}">
                  <a16:creationId xmlns:a16="http://schemas.microsoft.com/office/drawing/2014/main" id="{5B990EE1-D35F-DD96-8500-F6BAD231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350" y="2847975"/>
              <a:ext cx="944563" cy="306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sz="2000" dirty="0">
                  <a:solidFill>
                    <a:srgbClr val="FF807B"/>
                  </a:solidFill>
                  <a:latin typeface="Marker Felt" charset="0"/>
                  <a:ea typeface="ＭＳ Ｐゴシック" charset="0"/>
                  <a:cs typeface="Marker Felt" charset="0"/>
                  <a:sym typeface="Marker Felt" charset="0"/>
                </a:rPr>
                <a:t>bash (79)</a:t>
              </a:r>
            </a:p>
          </p:txBody>
        </p:sp>
        <p:pic>
          <p:nvPicPr>
            <p:cNvPr id="40" name="Picture 26">
              <a:extLst>
                <a:ext uri="{FF2B5EF4-FFF2-40B4-BE49-F238E27FC236}">
                  <a16:creationId xmlns:a16="http://schemas.microsoft.com/office/drawing/2014/main" id="{8EB1EE2E-D2EA-2D8F-63EA-C3FA089E641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1350" y="3082925"/>
              <a:ext cx="300038" cy="333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5622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9FA698-BE8B-8EC6-DD47-39DBFB3C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Path: </a:t>
            </a:r>
            <a:r>
              <a:rPr lang="en-US" dirty="0" err="1"/>
              <a:t>online.dr-chuck.com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2D62B-84F5-C32B-FFED-D6D05CD0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– </a:t>
            </a:r>
            <a:r>
              <a:rPr lang="en-US" dirty="0" err="1">
                <a:hlinkClick r:id="rId2"/>
              </a:rPr>
              <a:t>ihts.dr-chuck.com</a:t>
            </a:r>
            <a:endParaRPr lang="en-US" dirty="0"/>
          </a:p>
          <a:p>
            <a:r>
              <a:rPr lang="en-US" dirty="0"/>
              <a:t>Python – </a:t>
            </a:r>
            <a:r>
              <a:rPr lang="en-US" dirty="0">
                <a:hlinkClick r:id="rId3"/>
              </a:rPr>
              <a:t>www.py4e.com</a:t>
            </a:r>
            <a:endParaRPr lang="en-US" dirty="0"/>
          </a:p>
          <a:p>
            <a:r>
              <a:rPr lang="en-US" dirty="0"/>
              <a:t>Django (Python, HTML, CSS, SQL, JavaScript) – </a:t>
            </a:r>
            <a:r>
              <a:rPr lang="en-US" dirty="0">
                <a:hlinkClick r:id="rId4"/>
              </a:rPr>
              <a:t>www.dj4e.com</a:t>
            </a:r>
            <a:endParaRPr lang="en-US" dirty="0"/>
          </a:p>
          <a:p>
            <a:r>
              <a:rPr lang="en-US" dirty="0"/>
              <a:t>Web Applications (PHP, HTML, CSS, SQL, JavaScript) – </a:t>
            </a:r>
            <a:r>
              <a:rPr lang="en-US" dirty="0">
                <a:hlinkClick r:id="rId5"/>
              </a:rPr>
              <a:t>www.wa4e.com</a:t>
            </a:r>
            <a:endParaRPr lang="en-US" dirty="0"/>
          </a:p>
          <a:p>
            <a:r>
              <a:rPr lang="en-US" dirty="0"/>
              <a:t>PostgreSQL (SQL) – </a:t>
            </a:r>
            <a:r>
              <a:rPr lang="en-US" dirty="0">
                <a:hlinkClick r:id="rId6"/>
              </a:rPr>
              <a:t>www.pg4e.com</a:t>
            </a:r>
            <a:endParaRPr lang="en-US" dirty="0"/>
          </a:p>
          <a:p>
            <a:r>
              <a:rPr lang="en-US" dirty="0"/>
              <a:t>C Programming – </a:t>
            </a:r>
            <a:r>
              <a:rPr lang="en-US" dirty="0">
                <a:hlinkClick r:id="rId7"/>
              </a:rPr>
              <a:t>www.cc4e.com</a:t>
            </a:r>
            <a:r>
              <a:rPr lang="en-US" dirty="0"/>
              <a:t> ← We are here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r>
              <a:rPr lang="en-US" dirty="0"/>
              <a:t>Computer Architecture </a:t>
            </a:r>
          </a:p>
          <a:p>
            <a:r>
              <a:rPr lang="en-US" dirty="0"/>
              <a:t>Java Enterprise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198797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E8D94D-CD16-9C23-21B3-518BC418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and 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AF9E3F-C6C9-6707-E5AF-36D5D5CA14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White space is essential</a:t>
            </a:r>
          </a:p>
          <a:p>
            <a:r>
              <a:rPr lang="en-US" dirty="0"/>
              <a:t>Very object oriented</a:t>
            </a:r>
          </a:p>
          <a:p>
            <a:r>
              <a:rPr lang="en-US" dirty="0"/>
              <a:t>Convenient data structures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Auto memory management</a:t>
            </a:r>
          </a:p>
          <a:p>
            <a:r>
              <a:rPr lang="en-US" dirty="0"/>
              <a:t>1980's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F994E-3E04-57CE-03C3-68FDF95D6E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Whitespace ignored</a:t>
            </a:r>
          </a:p>
          <a:p>
            <a:r>
              <a:rPr lang="en-US" dirty="0"/>
              <a:t>Not object oriented at all</a:t>
            </a:r>
          </a:p>
          <a:p>
            <a:r>
              <a:rPr lang="en-US" dirty="0"/>
              <a:t>Fast efficient powerful</a:t>
            </a:r>
          </a:p>
          <a:p>
            <a:pPr lvl="1"/>
            <a:r>
              <a:rPr lang="en-US" dirty="0"/>
              <a:t>struct</a:t>
            </a:r>
          </a:p>
          <a:p>
            <a:pPr lvl="1"/>
            <a:r>
              <a:rPr lang="en-US" dirty="0"/>
              <a:t>Pointers</a:t>
            </a:r>
          </a:p>
          <a:p>
            <a:r>
              <a:rPr lang="en-US" dirty="0"/>
              <a:t>Manual memory management</a:t>
            </a:r>
          </a:p>
          <a:p>
            <a:r>
              <a:rPr lang="en-US" dirty="0"/>
              <a:t>1970's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6995F-2189-79F0-3B96-021A3458687F}"/>
              </a:ext>
            </a:extLst>
          </p:cNvPr>
          <p:cNvSpPr txBox="1"/>
          <p:nvPr/>
        </p:nvSpPr>
        <p:spPr>
          <a:xfrm>
            <a:off x="1583635" y="5330530"/>
            <a:ext cx="902472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many ways, Python is a convenience layer built on top of C to make it so users could write code without worrying about the complex details.</a:t>
            </a:r>
          </a:p>
        </p:txBody>
      </p:sp>
    </p:spTree>
    <p:extLst>
      <p:ext uri="{BB962C8B-B14F-4D97-AF65-F5344CB8AC3E}">
        <p14:creationId xmlns:p14="http://schemas.microsoft.com/office/powerpoint/2010/main" val="303322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048DFB-4045-3AA8-A690-6B966256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Through A Python Lens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17EDB0-CA29-D11E-A25A-CE9A35DD1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by example</a:t>
            </a:r>
          </a:p>
        </p:txBody>
      </p:sp>
    </p:spTree>
    <p:extLst>
      <p:ext uri="{BB962C8B-B14F-4D97-AF65-F5344CB8AC3E}">
        <p14:creationId xmlns:p14="http://schemas.microsoft.com/office/powerpoint/2010/main" val="153787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E470EA-6143-6F9E-DF79-077E97D9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Rosetta Stone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47632B-3F41-AA59-D064-D46951DA4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5D5B82-5CA7-73A2-D32F-4EBC214FDD57}"/>
              </a:ext>
            </a:extLst>
          </p:cNvPr>
          <p:cNvSpPr txBox="1"/>
          <p:nvPr/>
        </p:nvSpPr>
        <p:spPr>
          <a:xfrm>
            <a:off x="643468" y="5854071"/>
            <a:ext cx="59627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file is licensed under the Creative Commons Attribution-Share Alike 4.0 International license. Attribution: © Hans </a:t>
            </a:r>
            <a:r>
              <a:rPr lang="en-US" sz="1400" dirty="0" err="1"/>
              <a:t>Hillewaert</a:t>
            </a:r>
            <a:r>
              <a:rPr lang="en-US" sz="1400" dirty="0"/>
              <a:t> </a:t>
            </a:r>
          </a:p>
          <a:p>
            <a:r>
              <a:rPr lang="en-US" sz="1400" dirty="0"/>
              <a:t>https://</a:t>
            </a:r>
            <a:r>
              <a:rPr lang="en-US" sz="1400" dirty="0" err="1"/>
              <a:t>en.wikipedia.org</a:t>
            </a:r>
            <a:r>
              <a:rPr lang="en-US" sz="1400" dirty="0"/>
              <a:t>/wiki/</a:t>
            </a:r>
            <a:r>
              <a:rPr lang="en-US" sz="1400" dirty="0" err="1"/>
              <a:t>Rosetta_Stone</a:t>
            </a:r>
            <a:r>
              <a:rPr lang="en-US" sz="1400" dirty="0"/>
              <a:t>#/media/</a:t>
            </a:r>
            <a:r>
              <a:rPr lang="en-US" sz="1400" dirty="0" err="1"/>
              <a:t>File:Rosetta_Stone.JPG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90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E49F-7C1C-5C5A-04C1-F40E90D4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code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D38E-786C-5A0D-4CBF-1C1551413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these examples are also programming exercises</a:t>
            </a:r>
          </a:p>
          <a:p>
            <a:r>
              <a:rPr lang="en-US" dirty="0"/>
              <a:t>It is my intention that you watch these lectures and work on the exercises at the same time</a:t>
            </a:r>
          </a:p>
          <a:p>
            <a:r>
              <a:rPr lang="en-US" dirty="0"/>
              <a:t>These exercises are not trying to assess what you learned</a:t>
            </a:r>
          </a:p>
          <a:p>
            <a:r>
              <a:rPr lang="en-US" dirty="0"/>
              <a:t>Watching and listening to the lecture and then typing this code in to make it work </a:t>
            </a:r>
            <a:r>
              <a:rPr lang="en-US" i="1" dirty="0"/>
              <a:t>is</a:t>
            </a:r>
            <a:r>
              <a:rPr lang="en-US" dirty="0"/>
              <a:t> the learning objective of this lecture</a:t>
            </a:r>
          </a:p>
          <a:p>
            <a:r>
              <a:rPr lang="en-US" dirty="0"/>
              <a:t>After this section – you should do the assignments yourself (i.e. don’t search) to gain maximum benefit</a:t>
            </a:r>
          </a:p>
        </p:txBody>
      </p:sp>
    </p:spTree>
    <p:extLst>
      <p:ext uri="{BB962C8B-B14F-4D97-AF65-F5344CB8AC3E}">
        <p14:creationId xmlns:p14="http://schemas.microsoft.com/office/powerpoint/2010/main" val="54422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E75395-E56B-5576-57F3-7147B3EF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C96E02-877B-3E12-E2F9-BE0A304F4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Arithmetic Operators: + - * / % </a:t>
            </a:r>
          </a:p>
          <a:p>
            <a:r>
              <a:rPr lang="en-US" dirty="0"/>
              <a:t>Comparison Operators: == != &lt; &gt; &lt;= the same</a:t>
            </a:r>
          </a:p>
          <a:p>
            <a:r>
              <a:rPr lang="en-US" dirty="0"/>
              <a:t>Variable naming rules – letter/underscore + numbers/letters/underscores – also case matters</a:t>
            </a:r>
          </a:p>
          <a:p>
            <a:r>
              <a:rPr lang="en-US" dirty="0"/>
              <a:t>While loops – also break and continue in loops</a:t>
            </a:r>
          </a:p>
          <a:p>
            <a:r>
              <a:rPr lang="en-US" dirty="0"/>
              <a:t>Constants similar except for strings and characters and </a:t>
            </a:r>
            <a:r>
              <a:rPr lang="en-US" dirty="0" err="1"/>
              <a:t>booleans</a:t>
            </a:r>
            <a:endParaRPr lang="en-US" dirty="0"/>
          </a:p>
          <a:p>
            <a:r>
              <a:rPr lang="en-US" dirty="0"/>
              <a:t>Both have int / float, and char / byte</a:t>
            </a:r>
          </a:p>
          <a:p>
            <a:pPr lvl="1"/>
            <a:r>
              <a:rPr lang="en-US" dirty="0"/>
              <a:t>C has no str, list, or </a:t>
            </a:r>
            <a:r>
              <a:rPr lang="en-US" dirty="0" err="1"/>
              <a:t>dict</a:t>
            </a:r>
            <a:endParaRPr lang="en-US" dirty="0"/>
          </a:p>
          <a:p>
            <a:pPr lvl="1"/>
            <a:r>
              <a:rPr lang="en-US" dirty="0"/>
              <a:t>Python has no struct or double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893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ED1D-6C16-1F79-AEF7-1B42D5D0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E5B1-7BA6-8745-AFA7-93C1E2191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Boolean operators</a:t>
            </a:r>
          </a:p>
          <a:p>
            <a:pPr lvl="1"/>
            <a:r>
              <a:rPr lang="en-US" dirty="0"/>
              <a:t>and / not / or  versus &amp;&amp;  !  ||</a:t>
            </a:r>
          </a:p>
          <a:p>
            <a:r>
              <a:rPr lang="en-US" dirty="0"/>
              <a:t>C for loops are indeterminant (i.e. no for ... in in C)</a:t>
            </a:r>
          </a:p>
          <a:p>
            <a:r>
              <a:rPr lang="en-US" dirty="0"/>
              <a:t>C has no pre-defined True or False</a:t>
            </a:r>
          </a:p>
          <a:p>
            <a:r>
              <a:rPr lang="en-US" dirty="0"/>
              <a:t>None and NULL are similar concepts but quite different</a:t>
            </a:r>
          </a:p>
          <a:p>
            <a:r>
              <a:rPr lang="en-US" dirty="0"/>
              <a:t>Strings and character arrays are similar concepts but *very* different</a:t>
            </a:r>
          </a:p>
          <a:p>
            <a:r>
              <a:rPr lang="en-US" dirty="0"/>
              <a:t>C has no list, or 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Python has no struct  - float in Python is a C double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1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32175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 am a comment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print('Hello world')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print('Answer', 42)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print('Name', 'Sarah')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print('x',3.5,'i',100)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322193" y="1027906"/>
            <a:ext cx="54232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 I am a comment */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("Hello world\n");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("Answer %d\n", 42);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("Name %s\n", "Sarah");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("x %.1f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%d\n", 3.5, 100);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170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Hello world</a:t>
            </a:r>
          </a:p>
          <a:p>
            <a:r>
              <a:rPr lang="en-US" dirty="0">
                <a:latin typeface="Monaco" pitchFamily="2" charset="77"/>
              </a:rPr>
              <a:t>Answer 42</a:t>
            </a:r>
          </a:p>
          <a:p>
            <a:r>
              <a:rPr lang="en-US" dirty="0">
                <a:latin typeface="Monaco" pitchFamily="2" charset="77"/>
              </a:rPr>
              <a:t>Name Sarah</a:t>
            </a:r>
          </a:p>
          <a:p>
            <a:r>
              <a:rPr lang="en-US" dirty="0">
                <a:latin typeface="Monaco" pitchFamily="2" charset="77"/>
              </a:rPr>
              <a:t>x 3.5 </a:t>
            </a:r>
            <a:r>
              <a:rPr lang="en-US" dirty="0" err="1">
                <a:latin typeface="Monaco" pitchFamily="2" charset="77"/>
              </a:rPr>
              <a:t>i</a:t>
            </a:r>
            <a:r>
              <a:rPr lang="en-US" dirty="0">
                <a:latin typeface="Monaco" pitchFamily="2" charset="77"/>
              </a:rPr>
              <a:t>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8CDF7-E206-237B-5834-303417C8C9F2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cc_02_01.c</a:t>
            </a:r>
          </a:p>
        </p:txBody>
      </p:sp>
    </p:spTree>
    <p:extLst>
      <p:ext uri="{BB962C8B-B14F-4D97-AF65-F5344CB8AC3E}">
        <p14:creationId xmlns:p14="http://schemas.microsoft.com/office/powerpoint/2010/main" val="87991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33554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print('Enter US Floor')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int(input())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print('EU Floor',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322193" y="1027906"/>
            <a:ext cx="47339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("Enter US Floor\n");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("EU Floor %d\n",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2114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Enter US Floor</a:t>
            </a:r>
          </a:p>
          <a:p>
            <a:r>
              <a:rPr lang="en-US" b="1" u="sng" dirty="0">
                <a:latin typeface="Monaco" pitchFamily="2" charset="77"/>
              </a:rPr>
              <a:t>2</a:t>
            </a:r>
          </a:p>
          <a:p>
            <a:r>
              <a:rPr lang="en-US" dirty="0">
                <a:latin typeface="Monaco" pitchFamily="2" charset="77"/>
              </a:rPr>
              <a:t>EU Floor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45FFE-7DC3-FDAE-69BA-C033FBD70A6E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cc_02_02.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D482F-F1F8-D787-C35D-CEC0FF951EBF}"/>
              </a:ext>
            </a:extLst>
          </p:cNvPr>
          <p:cNvSpPr txBox="1"/>
          <p:nvPr/>
        </p:nvSpPr>
        <p:spPr>
          <a:xfrm>
            <a:off x="5735367" y="4523755"/>
            <a:ext cx="5907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those of us who learned Python 2, recall the difference between </a:t>
            </a:r>
            <a:r>
              <a:rPr lang="en-US" b="1" dirty="0"/>
              <a:t>input() </a:t>
            </a:r>
            <a:r>
              <a:rPr lang="en-US" dirty="0"/>
              <a:t>and </a:t>
            </a:r>
            <a:r>
              <a:rPr lang="en-US" b="1" dirty="0" err="1"/>
              <a:t>raw_input</a:t>
            </a:r>
            <a:r>
              <a:rPr lang="en-US" b="1" dirty="0"/>
              <a:t>()</a:t>
            </a:r>
            <a:r>
              <a:rPr lang="en-US" dirty="0"/>
              <a:t>.  In Python 3 there is only </a:t>
            </a:r>
            <a:r>
              <a:rPr lang="en-US" b="1" dirty="0"/>
              <a:t>input() </a:t>
            </a:r>
            <a:r>
              <a:rPr lang="en-US" dirty="0"/>
              <a:t>which is the same as Python 2's </a:t>
            </a:r>
            <a:r>
              <a:rPr lang="en-US" b="1" dirty="0" err="1"/>
              <a:t>raw_input</a:t>
            </a:r>
            <a:r>
              <a:rPr lang="en-US" b="1" dirty="0"/>
              <a:t>()</a:t>
            </a:r>
            <a:r>
              <a:rPr lang="en-US" dirty="0"/>
              <a:t>.  In C, </a:t>
            </a:r>
            <a:r>
              <a:rPr lang="en-US" b="1" dirty="0" err="1"/>
              <a:t>scanf</a:t>
            </a:r>
            <a:r>
              <a:rPr lang="en-US" b="1" dirty="0"/>
              <a:t>("%d", ...) </a:t>
            </a:r>
            <a:r>
              <a:rPr lang="en-US" dirty="0"/>
              <a:t>is more like Python 2's </a:t>
            </a:r>
            <a:r>
              <a:rPr lang="en-US" b="1" dirty="0"/>
              <a:t>input().</a:t>
            </a:r>
          </a:p>
        </p:txBody>
      </p:sp>
    </p:spTree>
    <p:extLst>
      <p:ext uri="{BB962C8B-B14F-4D97-AF65-F5344CB8AC3E}">
        <p14:creationId xmlns:p14="http://schemas.microsoft.com/office/powerpoint/2010/main" val="294856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2941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print('Enter name')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 = input()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print('Hello', name)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322193" y="1027906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name[100];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("Enter name\n");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("%100s", name);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("Hello %s\n", name);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Enter name</a:t>
            </a:r>
          </a:p>
          <a:p>
            <a:r>
              <a:rPr lang="en-US" b="1" u="sng" dirty="0">
                <a:latin typeface="Monaco" pitchFamily="2" charset="77"/>
              </a:rPr>
              <a:t>Sarah</a:t>
            </a:r>
          </a:p>
          <a:p>
            <a:r>
              <a:rPr lang="en-US" dirty="0">
                <a:latin typeface="Monaco" pitchFamily="2" charset="77"/>
              </a:rPr>
              <a:t>Hello Sarah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F0506-F045-000E-B8E8-AFF9EA53CB9C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cc_02_03.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85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2941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print('Enter line')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line = input()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print('Line:', line)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322193" y="1027906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line[1001];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("Enter line\n");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("%1000[^\n]s", line);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("Line: %s\n", line);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5009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Enter line</a:t>
            </a:r>
          </a:p>
          <a:p>
            <a:r>
              <a:rPr lang="en-US" b="1" u="sng" dirty="0">
                <a:latin typeface="Monaco" pitchFamily="2" charset="77"/>
              </a:rPr>
              <a:t>Hello world - have a nice day</a:t>
            </a:r>
          </a:p>
          <a:p>
            <a:r>
              <a:rPr lang="en-US" dirty="0">
                <a:latin typeface="Monaco" pitchFamily="2" charset="77"/>
              </a:rPr>
              <a:t>Line: Hello world - have a nice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4232A-55BC-5745-7C8F-B12E691A9A45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cc_02_04.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3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Input (safe)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2941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print('Enter line')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line = input()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print('Line:', line)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322193" y="1027906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line[1000];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("Enter line\n");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(line, 1000, stdin);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("Line: %s\n", line);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5009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Enter line</a:t>
            </a:r>
          </a:p>
          <a:p>
            <a:r>
              <a:rPr lang="en-US" b="1" u="sng" dirty="0">
                <a:latin typeface="Monaco" pitchFamily="2" charset="77"/>
              </a:rPr>
              <a:t>Hello world - have a nice day</a:t>
            </a:r>
          </a:p>
          <a:p>
            <a:r>
              <a:rPr lang="en-US" dirty="0">
                <a:latin typeface="Monaco" pitchFamily="2" charset="77"/>
              </a:rPr>
              <a:t>Line: Hello world - have a nice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B718D-9746-DB0F-BC19-822E89CD93AC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60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3493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hand = open('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romeo.txt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hand: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5293487" y="1027906"/>
            <a:ext cx="652614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line[1000];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FILE *hand;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hand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romeo.txt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"r");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(line, 1000, hand) != NULL 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("%s", line);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954156" y="4200590"/>
            <a:ext cx="6801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But soft what light through yonder window breaks</a:t>
            </a:r>
          </a:p>
          <a:p>
            <a:r>
              <a:rPr lang="en-US" dirty="0">
                <a:latin typeface="Monaco" pitchFamily="2" charset="77"/>
              </a:rPr>
              <a:t>It is the east and Juliet is the sun</a:t>
            </a:r>
          </a:p>
          <a:p>
            <a:r>
              <a:rPr lang="en-US" dirty="0">
                <a:latin typeface="Monaco" pitchFamily="2" charset="77"/>
              </a:rPr>
              <a:t>Arise fair sun and kill the envious moon</a:t>
            </a:r>
          </a:p>
          <a:p>
            <a:r>
              <a:rPr lang="en-US" dirty="0">
                <a:latin typeface="Monaco" pitchFamily="2" charset="77"/>
              </a:rPr>
              <a:t>Who is already sick and pale with grief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B6CA9-47F0-59DF-DF09-8741C9A2B62F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cc_02_06.c</a:t>
            </a:r>
          </a:p>
        </p:txBody>
      </p:sp>
    </p:spTree>
    <p:extLst>
      <p:ext uri="{BB962C8B-B14F-4D97-AF65-F5344CB8AC3E}">
        <p14:creationId xmlns:p14="http://schemas.microsoft.com/office/powerpoint/2010/main" val="22483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1682693"/>
            <a:ext cx="2803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range(5) 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5293487" y="1027906"/>
            <a:ext cx="36311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("%d\n",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2646769" y="3790313"/>
            <a:ext cx="3225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0</a:t>
            </a:r>
          </a:p>
          <a:p>
            <a:r>
              <a:rPr lang="en-US" dirty="0">
                <a:latin typeface="Monaco" pitchFamily="2" charset="77"/>
              </a:rPr>
              <a:t>1</a:t>
            </a:r>
          </a:p>
          <a:p>
            <a:r>
              <a:rPr lang="en-US" dirty="0">
                <a:latin typeface="Monaco" pitchFamily="2" charset="77"/>
              </a:rPr>
              <a:t>2</a:t>
            </a:r>
          </a:p>
          <a:p>
            <a:r>
              <a:rPr lang="en-US" dirty="0">
                <a:latin typeface="Monaco" pitchFamily="2" charset="77"/>
              </a:rPr>
              <a:t>3</a:t>
            </a:r>
          </a:p>
          <a:p>
            <a:r>
              <a:rPr lang="en-US" dirty="0">
                <a:latin typeface="Monaco" pitchFamily="2" charset="77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08E69-CA57-FC40-50CD-99DCEC9E45DE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cc_02_07.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84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/ Min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96477" y="1443841"/>
            <a:ext cx="61125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line = input()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line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line == "done" : break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int(line)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is None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is None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print('Maximum',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print('Minimum',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8775195" y="2885890"/>
            <a:ext cx="14253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Monaco" pitchFamily="2" charset="77"/>
              </a:rPr>
              <a:t>5</a:t>
            </a:r>
          </a:p>
          <a:p>
            <a:r>
              <a:rPr lang="en-US" b="1" u="sng" dirty="0">
                <a:latin typeface="Monaco" pitchFamily="2" charset="77"/>
              </a:rPr>
              <a:t>2</a:t>
            </a:r>
          </a:p>
          <a:p>
            <a:r>
              <a:rPr lang="en-US" b="1" u="sng" dirty="0">
                <a:latin typeface="Monaco" pitchFamily="2" charset="77"/>
              </a:rPr>
              <a:t>9</a:t>
            </a:r>
          </a:p>
          <a:p>
            <a:r>
              <a:rPr lang="en-US" b="1" u="sng" dirty="0">
                <a:latin typeface="Monaco" pitchFamily="2" charset="77"/>
              </a:rPr>
              <a:t>done</a:t>
            </a:r>
          </a:p>
          <a:p>
            <a:r>
              <a:rPr lang="en-US" dirty="0">
                <a:latin typeface="Monaco" pitchFamily="2" charset="77"/>
              </a:rPr>
              <a:t>Maximum 9</a:t>
            </a:r>
          </a:p>
          <a:p>
            <a:r>
              <a:rPr lang="en-US" dirty="0">
                <a:latin typeface="Monaco" pitchFamily="2" charset="77"/>
              </a:rPr>
              <a:t>Minimum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ADED-BD0F-8B9B-630C-3F40951617EF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cc_02_08.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py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47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/ Min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4574829" y="1552188"/>
            <a:ext cx="707757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first = 1;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("%d",&amp;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!= EOF 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 first ||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 first ||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first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("Maximum %d\n",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("Minimum %d\n",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1281125" y="1690687"/>
            <a:ext cx="142539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Monaco" pitchFamily="2" charset="77"/>
              </a:rPr>
              <a:t>5</a:t>
            </a:r>
          </a:p>
          <a:p>
            <a:r>
              <a:rPr lang="en-US" b="1" u="sng" dirty="0">
                <a:latin typeface="Monaco" pitchFamily="2" charset="77"/>
              </a:rPr>
              <a:t>2</a:t>
            </a:r>
          </a:p>
          <a:p>
            <a:r>
              <a:rPr lang="en-US" b="1" u="sng" dirty="0">
                <a:latin typeface="Monaco" pitchFamily="2" charset="77"/>
              </a:rPr>
              <a:t>9</a:t>
            </a:r>
          </a:p>
          <a:p>
            <a:r>
              <a:rPr lang="en-US" dirty="0">
                <a:latin typeface="Monaco" pitchFamily="2" charset="77"/>
              </a:rPr>
              <a:t>(EOF)</a:t>
            </a:r>
          </a:p>
          <a:p>
            <a:r>
              <a:rPr lang="en-US" dirty="0">
                <a:latin typeface="Monaco" pitchFamily="2" charset="77"/>
              </a:rPr>
              <a:t>Maximum 9</a:t>
            </a:r>
          </a:p>
          <a:p>
            <a:r>
              <a:rPr lang="en-US" dirty="0">
                <a:latin typeface="Monaco" pitchFamily="2" charset="77"/>
              </a:rPr>
              <a:t>Minimum 2</a:t>
            </a:r>
          </a:p>
          <a:p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b="1" u="sng" dirty="0">
                <a:latin typeface="Monaco" pitchFamily="2" charset="77"/>
              </a:rPr>
              <a:t>5 2 9</a:t>
            </a:r>
          </a:p>
          <a:p>
            <a:r>
              <a:rPr lang="en-US" dirty="0">
                <a:latin typeface="Monaco" pitchFamily="2" charset="77"/>
              </a:rPr>
              <a:t>(EOF)</a:t>
            </a:r>
          </a:p>
          <a:p>
            <a:r>
              <a:rPr lang="en-US" dirty="0">
                <a:latin typeface="Monaco" pitchFamily="2" charset="77"/>
              </a:rPr>
              <a:t>Maximum 9</a:t>
            </a:r>
          </a:p>
          <a:p>
            <a:r>
              <a:rPr lang="en-US" dirty="0">
                <a:latin typeface="Monaco" pitchFamily="2" charset="77"/>
              </a:rPr>
              <a:t>Minimum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DE167-0E6E-B081-0CCE-F2ADE4702860}"/>
              </a:ext>
            </a:extLst>
          </p:cNvPr>
          <p:cNvSpPr txBox="1"/>
          <p:nvPr/>
        </p:nvSpPr>
        <p:spPr>
          <a:xfrm>
            <a:off x="10363200" y="6323598"/>
            <a:ext cx="16971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cc_02_08.c</a:t>
            </a:r>
          </a:p>
        </p:txBody>
      </p:sp>
    </p:spTree>
    <p:extLst>
      <p:ext uri="{BB962C8B-B14F-4D97-AF65-F5344CB8AC3E}">
        <p14:creationId xmlns:p14="http://schemas.microsoft.com/office/powerpoint/2010/main" val="2735925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624946" y="1839394"/>
            <a:ext cx="499848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while True: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try: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line = input()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except:  # If we get EOF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line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guess = int(line)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guess == 42: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print('Nice work!')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guess &lt; 42 :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print('Too low - guess again')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 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print('Too high - guess again')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6096000" y="806490"/>
            <a:ext cx="598593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guess;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d",&amp;guess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!= EOF 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 guess == 42 )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("Nice work!\n");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 if ( guess &lt; 42 )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("Too low - guess again\n");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("Too high - guess again\n");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7648259" y="4501661"/>
            <a:ext cx="3217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Monaco" pitchFamily="2" charset="77"/>
              </a:rPr>
              <a:t>5</a:t>
            </a:r>
          </a:p>
          <a:p>
            <a:r>
              <a:rPr lang="en-US" dirty="0">
                <a:latin typeface="Monaco" pitchFamily="2" charset="77"/>
              </a:rPr>
              <a:t>Too low - guess again</a:t>
            </a:r>
          </a:p>
          <a:p>
            <a:r>
              <a:rPr lang="en-US" b="1" u="sng" dirty="0">
                <a:latin typeface="Monaco" pitchFamily="2" charset="77"/>
              </a:rPr>
              <a:t>50</a:t>
            </a:r>
          </a:p>
          <a:p>
            <a:r>
              <a:rPr lang="en-US" dirty="0">
                <a:latin typeface="Monaco" pitchFamily="2" charset="77"/>
              </a:rPr>
              <a:t>Too high - guess again</a:t>
            </a:r>
          </a:p>
          <a:p>
            <a:r>
              <a:rPr lang="en-US" b="1" u="sng" dirty="0">
                <a:latin typeface="Monaco" pitchFamily="2" charset="77"/>
              </a:rPr>
              <a:t>42</a:t>
            </a:r>
          </a:p>
          <a:p>
            <a:r>
              <a:rPr lang="en-US" dirty="0">
                <a:latin typeface="Monaco" pitchFamily="2" charset="77"/>
              </a:rPr>
              <a:t>Nice work!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035B7-27F7-E969-9952-F807B645317D}"/>
              </a:ext>
            </a:extLst>
          </p:cNvPr>
          <p:cNvSpPr txBox="1"/>
          <p:nvPr/>
        </p:nvSpPr>
        <p:spPr>
          <a:xfrm>
            <a:off x="10647218" y="6323598"/>
            <a:ext cx="141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cc_02_09.c</a:t>
            </a:r>
          </a:p>
        </p:txBody>
      </p:sp>
    </p:spTree>
    <p:extLst>
      <p:ext uri="{BB962C8B-B14F-4D97-AF65-F5344CB8AC3E}">
        <p14:creationId xmlns:p14="http://schemas.microsoft.com/office/powerpoint/2010/main" val="68861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(call by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1302384" y="1968844"/>
            <a:ext cx="34932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 = a * 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c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(6, 7)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print('Answer:',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7081134" y="1599512"/>
            <a:ext cx="487184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(6,7);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("Answer: %d\n",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b)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c = a *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c;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1485768" y="45709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Answer: 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035B7-27F7-E969-9952-F807B645317D}"/>
              </a:ext>
            </a:extLst>
          </p:cNvPr>
          <p:cNvSpPr txBox="1"/>
          <p:nvPr/>
        </p:nvSpPr>
        <p:spPr>
          <a:xfrm>
            <a:off x="10647218" y="6323598"/>
            <a:ext cx="141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cc_02_10.c</a:t>
            </a:r>
          </a:p>
        </p:txBody>
      </p:sp>
    </p:spTree>
    <p:extLst>
      <p:ext uri="{BB962C8B-B14F-4D97-AF65-F5344CB8AC3E}">
        <p14:creationId xmlns:p14="http://schemas.microsoft.com/office/powerpoint/2010/main" val="3765195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508E1-B5B9-9A0B-37F0-15F2BB30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36094-8775-EBE3-1FED-6DF8907EC500}"/>
              </a:ext>
            </a:extLst>
          </p:cNvPr>
          <p:cNvSpPr txBox="1"/>
          <p:nvPr/>
        </p:nvSpPr>
        <p:spPr>
          <a:xfrm>
            <a:off x="954156" y="2172500"/>
            <a:ext cx="4458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hand = open('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romeo.txt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hand: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().upper())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4B7C8-BBD4-1EE7-3894-3C801D6DC253}"/>
              </a:ext>
            </a:extLst>
          </p:cNvPr>
          <p:cNvSpPr txBox="1"/>
          <p:nvPr/>
        </p:nvSpPr>
        <p:spPr>
          <a:xfrm>
            <a:off x="5833814" y="1027906"/>
            <a:ext cx="625042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ctype.h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line[1000];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FILE *hand;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hand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romeo.txt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"r");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fgets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(line, 1000, hand) != NULL 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(line);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putchar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(line[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4458A-37BA-02AB-CE8C-B288D36FE6BF}"/>
              </a:ext>
            </a:extLst>
          </p:cNvPr>
          <p:cNvSpPr txBox="1"/>
          <p:nvPr/>
        </p:nvSpPr>
        <p:spPr>
          <a:xfrm>
            <a:off x="2432883" y="4783747"/>
            <a:ext cx="6801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BUT SOFT WHAT LIGHT THROUGH YONDER WINDOW BREAKS</a:t>
            </a:r>
          </a:p>
          <a:p>
            <a:r>
              <a:rPr lang="en-US" dirty="0">
                <a:latin typeface="Monaco" pitchFamily="2" charset="77"/>
              </a:rPr>
              <a:t>IT IS THE EAST AND JULIET IS THE SUN</a:t>
            </a:r>
          </a:p>
          <a:p>
            <a:r>
              <a:rPr lang="en-US" dirty="0">
                <a:latin typeface="Monaco" pitchFamily="2" charset="77"/>
              </a:rPr>
              <a:t>ARISE FAIR SUN AND KILL THE ENVIOUS MOON</a:t>
            </a:r>
          </a:p>
          <a:p>
            <a:r>
              <a:rPr lang="en-US" dirty="0">
                <a:latin typeface="Monaco" pitchFamily="2" charset="77"/>
              </a:rPr>
              <a:t>WHO IS ALREADY SICK AND PALE WITH GRIEF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0686D-54E3-5C35-770B-778EBE0D0537}"/>
              </a:ext>
            </a:extLst>
          </p:cNvPr>
          <p:cNvSpPr txBox="1"/>
          <p:nvPr/>
        </p:nvSpPr>
        <p:spPr>
          <a:xfrm>
            <a:off x="10460182" y="6323598"/>
            <a:ext cx="160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cc_02_11.c</a:t>
            </a:r>
          </a:p>
        </p:txBody>
      </p:sp>
    </p:spTree>
    <p:extLst>
      <p:ext uri="{BB962C8B-B14F-4D97-AF65-F5344CB8AC3E}">
        <p14:creationId xmlns:p14="http://schemas.microsoft.com/office/powerpoint/2010/main" val="1459537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D5DF8A-3D98-DC7E-85E8-EAC7EDC5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A055D-FA59-02F9-40B6-72AFC8A29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Input/Output</a:t>
            </a:r>
          </a:p>
          <a:p>
            <a:r>
              <a:rPr lang="en-US" dirty="0"/>
              <a:t>Looping</a:t>
            </a:r>
          </a:p>
          <a:p>
            <a:r>
              <a:rPr lang="en-US" dirty="0"/>
              <a:t>Reading a file</a:t>
            </a:r>
          </a:p>
          <a:p>
            <a:r>
              <a:rPr lang="en-US" dirty="0"/>
              <a:t>Strings</a:t>
            </a:r>
          </a:p>
          <a:p>
            <a:r>
              <a:rPr lang="en-US" dirty="0"/>
              <a:t>Float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FD6821-0D52-C591-FBFA-4AB416D5DA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Way too complex to implement in C (for now)</a:t>
            </a:r>
          </a:p>
          <a:p>
            <a:pPr lvl="1"/>
            <a:r>
              <a:rPr lang="en-US" dirty="0"/>
              <a:t>Python str()</a:t>
            </a:r>
          </a:p>
          <a:p>
            <a:pPr lvl="1"/>
            <a:r>
              <a:rPr lang="en-US" dirty="0"/>
              <a:t>Python list()</a:t>
            </a:r>
          </a:p>
          <a:p>
            <a:pPr lvl="1"/>
            <a:r>
              <a:rPr lang="en-US" dirty="0"/>
              <a:t>Python </a:t>
            </a:r>
            <a:r>
              <a:rPr lang="en-US" dirty="0" err="1"/>
              <a:t>dict</a:t>
            </a:r>
            <a:r>
              <a:rPr lang="en-US" dirty="0"/>
              <a:t>()</a:t>
            </a:r>
          </a:p>
          <a:p>
            <a:r>
              <a:rPr lang="en-US" dirty="0"/>
              <a:t>We will revisit these as the end of the course</a:t>
            </a:r>
          </a:p>
        </p:txBody>
      </p:sp>
    </p:spTree>
    <p:extLst>
      <p:ext uri="{BB962C8B-B14F-4D97-AF65-F5344CB8AC3E}">
        <p14:creationId xmlns:p14="http://schemas.microsoft.com/office/powerpoint/2010/main" val="3953165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AE3D-C70D-220E-82A8-C1D64A9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/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25F2C-A6DC-4096-AD36-A6A5AF1FFD40}"/>
              </a:ext>
            </a:extLst>
          </p:cNvPr>
          <p:cNvSpPr txBox="1"/>
          <p:nvPr/>
        </p:nvSpPr>
        <p:spPr>
          <a:xfrm>
            <a:off x="838201" y="1502688"/>
            <a:ext cx="50557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slides are Copyright 2020-  Charles R. Severance (</a:t>
            </a:r>
            <a:r>
              <a:rPr lang="en-US" sz="1200" dirty="0" err="1"/>
              <a:t>online.dr-chuck.com</a:t>
            </a:r>
            <a:r>
              <a:rPr lang="en-US" sz="1200" dirty="0"/>
              <a:t>) as part of www.cc4e.com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lang="en-US" sz="1200" dirty="0"/>
          </a:p>
          <a:p>
            <a:r>
              <a:rPr lang="en-US" sz="1200" dirty="0"/>
              <a:t>Initial Development: Charles Severance, University of Michigan School of Information</a:t>
            </a:r>
          </a:p>
          <a:p>
            <a:endParaRPr lang="en-US" sz="1200" dirty="0"/>
          </a:p>
          <a:p>
            <a:r>
              <a:rPr lang="en-US" sz="1200" b="1" dirty="0"/>
              <a:t>Insert new Contributors and Translators here including names and dates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0D5A1-502A-F6A1-76FD-6D954B37EE94}"/>
              </a:ext>
            </a:extLst>
          </p:cNvPr>
          <p:cNvSpPr txBox="1"/>
          <p:nvPr/>
        </p:nvSpPr>
        <p:spPr>
          <a:xfrm>
            <a:off x="6298097" y="1502688"/>
            <a:ext cx="50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Continue new Contributors and Translators here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388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2030</Words>
  <Application>Microsoft Macintosh PowerPoint</Application>
  <PresentationFormat>宽屏</PresentationFormat>
  <Paragraphs>334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Marker Felt</vt:lpstr>
      <vt:lpstr>Menlo</vt:lpstr>
      <vt:lpstr>Monaco</vt:lpstr>
      <vt:lpstr>Wingdings</vt:lpstr>
      <vt:lpstr>Office Theme</vt:lpstr>
      <vt:lpstr>From Python to C</vt:lpstr>
      <vt:lpstr>Evolution of Computer Languages</vt:lpstr>
      <vt:lpstr>Learning Path: online.dr-chuck.com</vt:lpstr>
      <vt:lpstr>Python and C</vt:lpstr>
      <vt:lpstr>C Through A Python Lens</vt:lpstr>
      <vt:lpstr>Rosetta Stone</vt:lpstr>
      <vt:lpstr>These code examples</vt:lpstr>
      <vt:lpstr>Similarities</vt:lpstr>
      <vt:lpstr>Differences</vt:lpstr>
      <vt:lpstr>Output</vt:lpstr>
      <vt:lpstr>Number Input</vt:lpstr>
      <vt:lpstr>String Input</vt:lpstr>
      <vt:lpstr>Line Input</vt:lpstr>
      <vt:lpstr>Line Input (safe)</vt:lpstr>
      <vt:lpstr>Read A File</vt:lpstr>
      <vt:lpstr>Counted Loop</vt:lpstr>
      <vt:lpstr>Max / Min Python</vt:lpstr>
      <vt:lpstr>Max / Min C</vt:lpstr>
      <vt:lpstr>Guessing</vt:lpstr>
      <vt:lpstr>Functions (call by value)</vt:lpstr>
      <vt:lpstr>Shouting</vt:lpstr>
      <vt:lpstr>Summary</vt:lpstr>
      <vt:lpstr>Acknowledgements /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Python and C</dc:title>
  <dc:creator>Microsoft Office User</dc:creator>
  <cp:lastModifiedBy>a86779</cp:lastModifiedBy>
  <cp:revision>49</cp:revision>
  <dcterms:created xsi:type="dcterms:W3CDTF">2022-07-26T07:32:28Z</dcterms:created>
  <dcterms:modified xsi:type="dcterms:W3CDTF">2025-12-22T02:03:57Z</dcterms:modified>
</cp:coreProperties>
</file>